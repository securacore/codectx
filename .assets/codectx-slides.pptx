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67" r:id="rId3"/>
    <p:sldId id="266" r:id="rId4"/>
    <p:sldId id="258" r:id="rId5"/>
    <p:sldId id="259" r:id="rId6"/>
    <p:sldId id="260" r:id="rId7"/>
    <p:sldId id="261" r:id="rId8"/>
    <p:sldId id="262" r:id="rId9"/>
    <p:sldId id="263" r:id="rId10"/>
    <p:sldId id="264" r:id="rId11"/>
    <p:sldId id="265"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399B7"/>
    <a:srgbClr val="64748B"/>
    <a:srgbClr val="09D0FF"/>
    <a:srgbClr val="13E6D5"/>
    <a:srgbClr val="05DF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997"/>
    <p:restoredTop sz="77323"/>
  </p:normalViewPr>
  <p:slideViewPr>
    <p:cSldViewPr snapToGrid="0" snapToObjects="1">
      <p:cViewPr varScale="1">
        <p:scale>
          <a:sx n="168" d="100"/>
          <a:sy n="168" d="100"/>
        </p:scale>
        <p:origin x="208" y="12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3259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people might ask “why would I care about something like this for a prototype”?</a:t>
            </a:r>
          </a:p>
          <a:p>
            <a:endParaRPr lang="en-US" dirty="0"/>
          </a:p>
          <a:p>
            <a:r>
              <a:rPr lang="en-US" dirty="0"/>
              <a:t>Answer:</a:t>
            </a:r>
          </a:p>
          <a:p>
            <a:pPr marL="171450" indent="-171450">
              <a:buFontTx/>
              <a:buChar char="-"/>
            </a:pPr>
            <a:r>
              <a:rPr lang="en-US" dirty="0"/>
              <a:t>Without the technical knowledge to communicate with the AI, it is nearly impossible to build something consistency, accurately, and verifiably during the development process. How do you know the AI is doing what you asked versus going off on a side mission?</a:t>
            </a:r>
          </a:p>
          <a:p>
            <a:pPr marL="171450" indent="-171450">
              <a:buFontTx/>
              <a:buChar char="-"/>
            </a:pPr>
            <a:r>
              <a:rPr lang="en-US" dirty="0"/>
              <a:t>Consistency of the foundation. Without a consistent foundation, you can’t be sure about what works well and what does not if you are prototyping. This makes is, nearly impossible, to know which elements of a prototype you want to carry over to another prototype or into the beginning of an actual implementation plan.</a:t>
            </a:r>
          </a:p>
          <a:p>
            <a:pPr marL="171450" indent="-171450">
              <a:buFontTx/>
              <a:buChar char="-"/>
            </a:pPr>
            <a:r>
              <a:rPr lang="en-US" dirty="0"/>
              <a:t>If the purpose of a prototype is to solve for a problem that adds value, then the way in which things are solved becomes part of the roadmap that a team would use to create an actual implementation. In other words, this becomes a sample roadmap, in some ways. If the work of the prototype isn’t to solve something that adds in some way, then the act of using better tooling won’t actual solve anything, more generally.</a:t>
            </a:r>
          </a:p>
          <a:p>
            <a:pPr marL="171450" indent="-171450">
              <a:buFontTx/>
              <a:buChar char="-"/>
            </a:pPr>
            <a:r>
              <a:rPr lang="en-US" dirty="0"/>
              <a:t>An AI without instruction is like a collection of monkeys with typewriters, that work really fast. You might get to the result, but is it REALLY what you wanted to solve?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EDDF4-5DDD-C63D-E0C0-B31A30A922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FB4969-3960-983D-38D4-AD93027B1C4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A04B2B6-98D7-8E74-332E-97E3626B53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21FBF8-5303-D238-06EA-F7B34CAB52FC}"/>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645850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891B2"/>
          </a:solidFill>
          <a:ln/>
        </p:spPr>
        <p:txBody>
          <a:bodyPr/>
          <a:lstStyle/>
          <a:p>
            <a:endParaRPr lang="en-US"/>
          </a:p>
        </p:txBody>
      </p:sp>
      <p:sp>
        <p:nvSpPr>
          <p:cNvPr id="3" name="Text 1"/>
          <p:cNvSpPr/>
          <p:nvPr/>
        </p:nvSpPr>
        <p:spPr>
          <a:xfrm>
            <a:off x="731520" y="1097280"/>
            <a:ext cx="7680960" cy="914400"/>
          </a:xfrm>
          <a:prstGeom prst="rect">
            <a:avLst/>
          </a:prstGeom>
          <a:noFill/>
          <a:ln/>
        </p:spPr>
        <p:txBody>
          <a:bodyPr wrap="square" lIns="0" tIns="0" rIns="0" bIns="0" rtlCol="0" anchor="ctr"/>
          <a:lstStyle/>
          <a:p>
            <a:pPr marL="0" indent="0">
              <a:buNone/>
            </a:pPr>
            <a:r>
              <a:rPr lang="en-US" sz="5200" b="1" dirty="0">
                <a:solidFill>
                  <a:srgbClr val="FFFFFF"/>
                </a:solidFill>
                <a:latin typeface="Trebuchet MS" pitchFamily="34" charset="0"/>
                <a:ea typeface="Trebuchet MS" pitchFamily="34" charset="-122"/>
                <a:cs typeface="Trebuchet MS" pitchFamily="34" charset="-120"/>
              </a:rPr>
              <a:t>codectx</a:t>
            </a:r>
            <a:r>
              <a:rPr lang="en-US" sz="800" b="1" i="1" dirty="0">
                <a:solidFill>
                  <a:srgbClr val="64748B"/>
                </a:solidFill>
                <a:latin typeface="Trebuchet MS" pitchFamily="34" charset="0"/>
                <a:ea typeface="Trebuchet MS" pitchFamily="34" charset="-122"/>
                <a:cs typeface="Trebuchet MS" pitchFamily="34" charset="-120"/>
              </a:rPr>
              <a:t>  (by Jon Tech)</a:t>
            </a:r>
            <a:endParaRPr lang="en-US" sz="5200" i="1" dirty="0">
              <a:solidFill>
                <a:srgbClr val="64748B"/>
              </a:solidFill>
            </a:endParaRPr>
          </a:p>
        </p:txBody>
      </p:sp>
      <p:sp>
        <p:nvSpPr>
          <p:cNvPr id="4" name="Text 2"/>
          <p:cNvSpPr/>
          <p:nvPr/>
        </p:nvSpPr>
        <p:spPr>
          <a:xfrm>
            <a:off x="731520" y="2011680"/>
            <a:ext cx="6400800" cy="822960"/>
          </a:xfrm>
          <a:prstGeom prst="rect">
            <a:avLst/>
          </a:prstGeom>
          <a:noFill/>
          <a:ln/>
        </p:spPr>
        <p:txBody>
          <a:bodyPr wrap="square" lIns="0" tIns="0" rIns="0" bIns="0" rtlCol="0" anchor="ctr"/>
          <a:lstStyle/>
          <a:p>
            <a:pPr marL="0" indent="0">
              <a:lnSpc>
                <a:spcPct val="130000"/>
              </a:lnSpc>
              <a:buNone/>
            </a:pPr>
            <a:r>
              <a:rPr lang="en-US" sz="2200" dirty="0">
                <a:solidFill>
                  <a:srgbClr val="22D3EE"/>
                </a:solidFill>
                <a:latin typeface="Calibri Light" pitchFamily="34" charset="0"/>
                <a:ea typeface="Calibri Light" pitchFamily="34" charset="-122"/>
                <a:cs typeface="Calibri Light" pitchFamily="34" charset="-120"/>
              </a:rPr>
              <a:t>A Documentation Compiler for</a:t>
            </a:r>
            <a:endParaRPr lang="en-US" sz="2200" dirty="0"/>
          </a:p>
          <a:p>
            <a:pPr marL="0" indent="0">
              <a:lnSpc>
                <a:spcPct val="130000"/>
              </a:lnSpc>
              <a:buNone/>
            </a:pPr>
            <a:r>
              <a:rPr lang="en-US" sz="2200" dirty="0">
                <a:solidFill>
                  <a:srgbClr val="22D3EE"/>
                </a:solidFill>
                <a:latin typeface="Calibri Light" pitchFamily="34" charset="0"/>
                <a:ea typeface="Calibri Light" pitchFamily="34" charset="-122"/>
                <a:cs typeface="Calibri Light" pitchFamily="34" charset="-120"/>
              </a:rPr>
              <a:t>AI-Driven Development</a:t>
            </a:r>
            <a:endParaRPr lang="en-US" sz="2200" dirty="0"/>
          </a:p>
        </p:txBody>
      </p:sp>
      <p:sp>
        <p:nvSpPr>
          <p:cNvPr id="5" name="Shape 3"/>
          <p:cNvSpPr/>
          <p:nvPr/>
        </p:nvSpPr>
        <p:spPr>
          <a:xfrm>
            <a:off x="731520" y="3108960"/>
            <a:ext cx="2286000" cy="0"/>
          </a:xfrm>
          <a:prstGeom prst="line">
            <a:avLst/>
          </a:prstGeom>
          <a:noFill/>
          <a:ln w="25400">
            <a:solidFill>
              <a:srgbClr val="0891B2"/>
            </a:solidFill>
            <a:prstDash val="solid"/>
          </a:ln>
        </p:spPr>
        <p:txBody>
          <a:bodyPr/>
          <a:lstStyle/>
          <a:p>
            <a:endParaRPr lang="en-US"/>
          </a:p>
        </p:txBody>
      </p:sp>
      <p:sp>
        <p:nvSpPr>
          <p:cNvPr id="6" name="Text 4"/>
          <p:cNvSpPr/>
          <p:nvPr/>
        </p:nvSpPr>
        <p:spPr>
          <a:xfrm>
            <a:off x="731520" y="3383280"/>
            <a:ext cx="6400800" cy="731520"/>
          </a:xfrm>
          <a:prstGeom prst="rect">
            <a:avLst/>
          </a:prstGeom>
          <a:noFill/>
          <a:ln/>
        </p:spPr>
        <p:txBody>
          <a:bodyPr wrap="square" lIns="0" tIns="0" rIns="0" bIns="0" rtlCol="0" anchor="ctr"/>
          <a:lstStyle/>
          <a:p>
            <a:pPr marL="0" indent="0">
              <a:lnSpc>
                <a:spcPct val="140000"/>
              </a:lnSpc>
              <a:buNone/>
            </a:pPr>
            <a:r>
              <a:rPr lang="en-US" sz="1400" dirty="0">
                <a:solidFill>
                  <a:srgbClr val="64748B"/>
                </a:solidFill>
                <a:latin typeface="Calibri" pitchFamily="34" charset="0"/>
                <a:ea typeface="Calibri" pitchFamily="34" charset="-122"/>
                <a:cs typeface="Calibri" pitchFamily="34" charset="-120"/>
              </a:rPr>
              <a:t>Compile documentation. Search with precision.</a:t>
            </a:r>
            <a:endParaRPr lang="en-US" sz="1400" dirty="0"/>
          </a:p>
          <a:p>
            <a:pPr marL="0" indent="0">
              <a:lnSpc>
                <a:spcPct val="140000"/>
              </a:lnSpc>
              <a:buNone/>
            </a:pPr>
            <a:r>
              <a:rPr lang="en-US" sz="1400" dirty="0">
                <a:solidFill>
                  <a:srgbClr val="64748B"/>
                </a:solidFill>
                <a:latin typeface="Calibri" pitchFamily="34" charset="0"/>
                <a:ea typeface="Calibri" pitchFamily="34" charset="-122"/>
                <a:cs typeface="Calibri" pitchFamily="34" charset="-120"/>
              </a:rPr>
              <a:t>Eliminate token waste.</a:t>
            </a:r>
            <a:endParaRPr lang="en-US" sz="1400" dirty="0"/>
          </a:p>
        </p:txBody>
      </p:sp>
      <p:pic>
        <p:nvPicPr>
          <p:cNvPr id="7" name="Image 0" descr="preencoded.png"/>
          <p:cNvPicPr>
            <a:picLocks noChangeAspect="1"/>
          </p:cNvPicPr>
          <p:nvPr/>
        </p:nvPicPr>
        <p:blipFill>
          <a:blip r:embed="rId3"/>
          <a:stretch>
            <a:fillRect/>
          </a:stretch>
        </p:blipFill>
        <p:spPr>
          <a:xfrm>
            <a:off x="5267459" y="1274847"/>
            <a:ext cx="2593805" cy="259380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457200" y="1371600"/>
            <a:ext cx="8229600" cy="3360260"/>
          </a:xfrm>
          <a:prstGeom prst="rect">
            <a:avLst/>
          </a:prstGeom>
          <a:solidFill>
            <a:srgbClr val="0F1B2D"/>
          </a:solidFill>
          <a:ln/>
        </p:spPr>
        <p:txBody>
          <a:bodyPr/>
          <a:lstStyle/>
          <a:p>
            <a:endParaRPr lang="en-US" dirty="0">
              <a:solidFill>
                <a:schemeClr val="bg1"/>
              </a:solidFill>
            </a:endParaRPr>
          </a:p>
        </p:txBody>
      </p:sp>
      <p:sp>
        <p:nvSpPr>
          <p:cNvPr id="2" name="Text 0"/>
          <p:cNvSpPr/>
          <p:nvPr/>
        </p:nvSpPr>
        <p:spPr>
          <a:xfrm>
            <a:off x="731520" y="274320"/>
            <a:ext cx="7680960" cy="548640"/>
          </a:xfrm>
          <a:prstGeom prst="rect">
            <a:avLst/>
          </a:prstGeom>
          <a:noFill/>
          <a:ln/>
        </p:spPr>
        <p:txBody>
          <a:bodyPr wrap="square" lIns="0" tIns="0" rIns="0" bIns="0" rtlCol="0" anchor="ctr"/>
          <a:lstStyle/>
          <a:p>
            <a:pPr marL="0" indent="0">
              <a:buNone/>
            </a:pPr>
            <a:r>
              <a:rPr lang="en-US" sz="3200" b="1" dirty="0">
                <a:solidFill>
                  <a:srgbClr val="0F1B2D"/>
                </a:solidFill>
                <a:latin typeface="Trebuchet MS" pitchFamily="34" charset="0"/>
                <a:ea typeface="Trebuchet MS" pitchFamily="34" charset="-122"/>
                <a:cs typeface="Trebuchet MS" pitchFamily="34" charset="-120"/>
              </a:rPr>
              <a:t>What is vibe coding?</a:t>
            </a:r>
            <a:endParaRPr lang="en-US" sz="3200" dirty="0"/>
          </a:p>
        </p:txBody>
      </p:sp>
      <p:sp>
        <p:nvSpPr>
          <p:cNvPr id="3" name="Text 1"/>
          <p:cNvSpPr/>
          <p:nvPr/>
        </p:nvSpPr>
        <p:spPr>
          <a:xfrm>
            <a:off x="731520" y="777240"/>
            <a:ext cx="7315200" cy="32004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Do you have any guard rails?</a:t>
            </a:r>
            <a:endParaRPr lang="en-US" sz="1400" dirty="0"/>
          </a:p>
        </p:txBody>
      </p:sp>
      <p:sp>
        <p:nvSpPr>
          <p:cNvPr id="5" name="Text 3"/>
          <p:cNvSpPr/>
          <p:nvPr/>
        </p:nvSpPr>
        <p:spPr>
          <a:xfrm>
            <a:off x="731520" y="1371599"/>
            <a:ext cx="7680960" cy="3360259"/>
          </a:xfrm>
          <a:prstGeom prst="rect">
            <a:avLst/>
          </a:prstGeom>
          <a:noFill/>
          <a:ln/>
        </p:spPr>
        <p:txBody>
          <a:bodyPr wrap="square" lIns="0" tIns="0" rIns="0" bIns="0" rtlCol="0" anchor="ctr"/>
          <a:lstStyle/>
          <a:p>
            <a:endParaRPr lang="en-US" sz="1400" dirty="0"/>
          </a:p>
        </p:txBody>
      </p:sp>
      <p:sp>
        <p:nvSpPr>
          <p:cNvPr id="26" name="Shape 3">
            <a:extLst>
              <a:ext uri="{FF2B5EF4-FFF2-40B4-BE49-F238E27FC236}">
                <a16:creationId xmlns:a16="http://schemas.microsoft.com/office/drawing/2014/main" id="{65501ABD-17BA-C09A-9D45-C38C8320DF4B}"/>
              </a:ext>
            </a:extLst>
          </p:cNvPr>
          <p:cNvSpPr/>
          <p:nvPr/>
        </p:nvSpPr>
        <p:spPr>
          <a:xfrm>
            <a:off x="457199" y="1353309"/>
            <a:ext cx="8229600" cy="72643"/>
          </a:xfrm>
          <a:prstGeom prst="rect">
            <a:avLst/>
          </a:prstGeom>
          <a:solidFill>
            <a:srgbClr val="F59E0B"/>
          </a:solidFill>
          <a:ln/>
        </p:spPr>
        <p:txBody>
          <a:bodyPr/>
          <a:lstStyle/>
          <a:p>
            <a:endParaRPr lang="en-US"/>
          </a:p>
        </p:txBody>
      </p:sp>
      <p:sp>
        <p:nvSpPr>
          <p:cNvPr id="27" name="TextBox 26">
            <a:extLst>
              <a:ext uri="{FF2B5EF4-FFF2-40B4-BE49-F238E27FC236}">
                <a16:creationId xmlns:a16="http://schemas.microsoft.com/office/drawing/2014/main" id="{5F0FB4E2-A33E-960E-A621-55449DF4376B}"/>
              </a:ext>
            </a:extLst>
          </p:cNvPr>
          <p:cNvSpPr txBox="1"/>
          <p:nvPr/>
        </p:nvSpPr>
        <p:spPr>
          <a:xfrm>
            <a:off x="731520" y="1627629"/>
            <a:ext cx="7593996" cy="2862322"/>
          </a:xfrm>
          <a:prstGeom prst="rect">
            <a:avLst/>
          </a:prstGeom>
          <a:noFill/>
        </p:spPr>
        <p:txBody>
          <a:bodyPr wrap="square" rtlCol="0">
            <a:spAutoFit/>
          </a:bodyPr>
          <a:lstStyle/>
          <a:p>
            <a:r>
              <a:rPr lang="en-US" dirty="0">
                <a:solidFill>
                  <a:schemeClr val="bg1"/>
                </a:solidFill>
              </a:rPr>
              <a:t>AI coding tools can write code, but they don't know how your project works. The AI only works with what fits on its desk; the </a:t>
            </a:r>
            <a:r>
              <a:rPr lang="en-US" b="1" i="1" u="sng" dirty="0">
                <a:solidFill>
                  <a:schemeClr val="bg1"/>
                </a:solidFill>
              </a:rPr>
              <a:t>context window</a:t>
            </a:r>
            <a:r>
              <a:rPr lang="en-US" dirty="0">
                <a:solidFill>
                  <a:schemeClr val="bg1"/>
                </a:solidFill>
              </a:rPr>
              <a:t>.</a:t>
            </a:r>
          </a:p>
          <a:p>
            <a:endParaRPr lang="en-US" dirty="0">
              <a:solidFill>
                <a:schemeClr val="bg1"/>
              </a:solidFill>
            </a:endParaRPr>
          </a:p>
          <a:p>
            <a:r>
              <a:rPr lang="en-US" b="1" dirty="0">
                <a:solidFill>
                  <a:schemeClr val="bg1"/>
                </a:solidFill>
              </a:rPr>
              <a:t>Too little</a:t>
            </a:r>
            <a:r>
              <a:rPr lang="en-US" dirty="0">
                <a:solidFill>
                  <a:schemeClr val="bg1"/>
                </a:solidFill>
              </a:rPr>
              <a:t> → Guesses</a:t>
            </a:r>
          </a:p>
          <a:p>
            <a:r>
              <a:rPr lang="en-US" b="1" dirty="0">
                <a:solidFill>
                  <a:schemeClr val="bg1"/>
                </a:solidFill>
              </a:rPr>
              <a:t>Too much </a:t>
            </a:r>
            <a:r>
              <a:rPr lang="en-US" dirty="0">
                <a:solidFill>
                  <a:schemeClr val="bg1"/>
                </a:solidFill>
              </a:rPr>
              <a:t>→ Confusion</a:t>
            </a:r>
          </a:p>
          <a:p>
            <a:r>
              <a:rPr lang="en-US" b="1" dirty="0">
                <a:solidFill>
                  <a:schemeClr val="bg1"/>
                </a:solidFill>
              </a:rPr>
              <a:t>Session ends </a:t>
            </a:r>
            <a:r>
              <a:rPr lang="en-US" dirty="0">
                <a:solidFill>
                  <a:schemeClr val="bg1"/>
                </a:solidFill>
              </a:rPr>
              <a:t>→ Starts over</a:t>
            </a:r>
          </a:p>
          <a:p>
            <a:endParaRPr lang="en-US" dirty="0">
              <a:solidFill>
                <a:schemeClr val="bg1"/>
              </a:solidFill>
            </a:endParaRPr>
          </a:p>
          <a:p>
            <a:r>
              <a:rPr lang="en-US" i="1" dirty="0">
                <a:solidFill>
                  <a:srgbClr val="8399B7"/>
                </a:solidFill>
              </a:rPr>
              <a:t>AI coding documentation are the instructions (</a:t>
            </a:r>
            <a:r>
              <a:rPr lang="en-US" i="1" dirty="0" err="1">
                <a:solidFill>
                  <a:srgbClr val="8399B7"/>
                </a:solidFill>
              </a:rPr>
              <a:t>i.e</a:t>
            </a:r>
            <a:r>
              <a:rPr lang="en-US" i="1" dirty="0">
                <a:solidFill>
                  <a:srgbClr val="8399B7"/>
                </a:solidFill>
              </a:rPr>
              <a:t> architecture decisions, coding standards, implementation patterns, project conventions, </a:t>
            </a:r>
            <a:r>
              <a:rPr lang="en-US" i="1" dirty="0" err="1">
                <a:solidFill>
                  <a:srgbClr val="8399B7"/>
                </a:solidFill>
              </a:rPr>
              <a:t>etc</a:t>
            </a:r>
            <a:r>
              <a:rPr lang="en-US" i="1" dirty="0">
                <a:solidFill>
                  <a:srgbClr val="8399B7"/>
                </a:solidFill>
              </a:rPr>
              <a:t>) that tells the AI how to build code, per project conventions.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9FF"/>
        </a:solidFill>
        <a:effectLst/>
      </p:bgPr>
    </p:bg>
    <p:spTree>
      <p:nvGrpSpPr>
        <p:cNvPr id="1" name="">
          <a:extLst>
            <a:ext uri="{FF2B5EF4-FFF2-40B4-BE49-F238E27FC236}">
              <a16:creationId xmlns:a16="http://schemas.microsoft.com/office/drawing/2014/main" id="{865968A0-150B-6FD1-B009-27F0415DAB0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753A82E-8E76-63BD-666D-840228FE9612}"/>
              </a:ext>
            </a:extLst>
          </p:cNvPr>
          <p:cNvSpPr/>
          <p:nvPr/>
        </p:nvSpPr>
        <p:spPr>
          <a:xfrm>
            <a:off x="731520" y="274320"/>
            <a:ext cx="7680960" cy="548640"/>
          </a:xfrm>
          <a:prstGeom prst="rect">
            <a:avLst/>
          </a:prstGeom>
          <a:noFill/>
          <a:ln/>
        </p:spPr>
        <p:txBody>
          <a:bodyPr wrap="square" lIns="0" tIns="0" rIns="0" bIns="0" rtlCol="0" anchor="ctr"/>
          <a:lstStyle/>
          <a:p>
            <a:pPr marL="0" indent="0">
              <a:buNone/>
            </a:pPr>
            <a:r>
              <a:rPr lang="en-US" sz="3200" b="1" dirty="0">
                <a:solidFill>
                  <a:srgbClr val="0F1B2D"/>
                </a:solidFill>
                <a:latin typeface="Trebuchet MS" pitchFamily="34" charset="0"/>
                <a:ea typeface="Trebuchet MS" pitchFamily="34" charset="-122"/>
                <a:cs typeface="Trebuchet MS" pitchFamily="34" charset="-120"/>
              </a:rPr>
              <a:t>The Problem</a:t>
            </a:r>
            <a:endParaRPr lang="en-US" sz="3200" dirty="0"/>
          </a:p>
        </p:txBody>
      </p:sp>
      <p:sp>
        <p:nvSpPr>
          <p:cNvPr id="3" name="Text 1">
            <a:extLst>
              <a:ext uri="{FF2B5EF4-FFF2-40B4-BE49-F238E27FC236}">
                <a16:creationId xmlns:a16="http://schemas.microsoft.com/office/drawing/2014/main" id="{4F0F3C92-E57B-5E83-ADDC-8A4000DA5564}"/>
              </a:ext>
            </a:extLst>
          </p:cNvPr>
          <p:cNvSpPr/>
          <p:nvPr/>
        </p:nvSpPr>
        <p:spPr>
          <a:xfrm>
            <a:off x="731520" y="777240"/>
            <a:ext cx="7315200" cy="32004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How AI consumes documentation today</a:t>
            </a:r>
            <a:endParaRPr lang="en-US" sz="1400" dirty="0"/>
          </a:p>
        </p:txBody>
      </p:sp>
      <p:sp>
        <p:nvSpPr>
          <p:cNvPr id="4" name="Shape 2">
            <a:extLst>
              <a:ext uri="{FF2B5EF4-FFF2-40B4-BE49-F238E27FC236}">
                <a16:creationId xmlns:a16="http://schemas.microsoft.com/office/drawing/2014/main" id="{3ABAB6DF-AD33-EF09-1258-7E4DE331A1B9}"/>
              </a:ext>
            </a:extLst>
          </p:cNvPr>
          <p:cNvSpPr/>
          <p:nvPr/>
        </p:nvSpPr>
        <p:spPr>
          <a:xfrm>
            <a:off x="731520" y="1463040"/>
            <a:ext cx="2377440" cy="2560320"/>
          </a:xfrm>
          <a:prstGeom prst="rect">
            <a:avLst/>
          </a:prstGeom>
          <a:solidFill>
            <a:srgbClr val="FFFFFF"/>
          </a:solidFill>
          <a:ln/>
          <a:effectLst>
            <a:outerShdw blurRad="101600" dist="38100" dir="8100000" algn="bl" rotWithShape="0">
              <a:srgbClr val="000000">
                <a:alpha val="25000"/>
              </a:srgbClr>
            </a:outerShdw>
          </a:effectLst>
        </p:spPr>
        <p:txBody>
          <a:bodyPr/>
          <a:lstStyle/>
          <a:p>
            <a:endParaRPr lang="en-US"/>
          </a:p>
        </p:txBody>
      </p:sp>
      <p:sp>
        <p:nvSpPr>
          <p:cNvPr id="5" name="Shape 3">
            <a:extLst>
              <a:ext uri="{FF2B5EF4-FFF2-40B4-BE49-F238E27FC236}">
                <a16:creationId xmlns:a16="http://schemas.microsoft.com/office/drawing/2014/main" id="{4DB84F91-5C2A-F702-507A-EF58F463F521}"/>
              </a:ext>
            </a:extLst>
          </p:cNvPr>
          <p:cNvSpPr/>
          <p:nvPr/>
        </p:nvSpPr>
        <p:spPr>
          <a:xfrm>
            <a:off x="731520" y="1463040"/>
            <a:ext cx="2377440" cy="54864"/>
          </a:xfrm>
          <a:prstGeom prst="rect">
            <a:avLst/>
          </a:prstGeom>
          <a:solidFill>
            <a:srgbClr val="F59E0B"/>
          </a:solidFill>
          <a:ln/>
        </p:spPr>
        <p:txBody>
          <a:bodyPr/>
          <a:lstStyle/>
          <a:p>
            <a:endParaRPr lang="en-US"/>
          </a:p>
        </p:txBody>
      </p:sp>
      <p:pic>
        <p:nvPicPr>
          <p:cNvPr id="6" name="Image 0" descr="preencoded.png">
            <a:extLst>
              <a:ext uri="{FF2B5EF4-FFF2-40B4-BE49-F238E27FC236}">
                <a16:creationId xmlns:a16="http://schemas.microsoft.com/office/drawing/2014/main" id="{257048AE-4450-8A6A-581E-957AA483C678}"/>
              </a:ext>
            </a:extLst>
          </p:cNvPr>
          <p:cNvPicPr>
            <a:picLocks noChangeAspect="1"/>
          </p:cNvPicPr>
          <p:nvPr/>
        </p:nvPicPr>
        <p:blipFill>
          <a:blip r:embed="rId3"/>
          <a:stretch>
            <a:fillRect/>
          </a:stretch>
        </p:blipFill>
        <p:spPr>
          <a:xfrm>
            <a:off x="914400" y="1737360"/>
            <a:ext cx="320040" cy="320040"/>
          </a:xfrm>
          <a:prstGeom prst="rect">
            <a:avLst/>
          </a:prstGeom>
        </p:spPr>
      </p:pic>
      <p:sp>
        <p:nvSpPr>
          <p:cNvPr id="7" name="Text 4">
            <a:extLst>
              <a:ext uri="{FF2B5EF4-FFF2-40B4-BE49-F238E27FC236}">
                <a16:creationId xmlns:a16="http://schemas.microsoft.com/office/drawing/2014/main" id="{306CFBF2-EFD9-B7D0-23EE-BF6F6FC5D881}"/>
              </a:ext>
            </a:extLst>
          </p:cNvPr>
          <p:cNvSpPr/>
          <p:nvPr/>
        </p:nvSpPr>
        <p:spPr>
          <a:xfrm>
            <a:off x="914400" y="2148840"/>
            <a:ext cx="2011680" cy="320040"/>
          </a:xfrm>
          <a:prstGeom prst="rect">
            <a:avLst/>
          </a:prstGeom>
          <a:noFill/>
          <a:ln/>
        </p:spPr>
        <p:txBody>
          <a:bodyPr wrap="square" lIns="0" tIns="0" rIns="0" bIns="0" rtlCol="0" anchor="ctr"/>
          <a:lstStyle/>
          <a:p>
            <a:pPr marL="0" indent="0">
              <a:buNone/>
            </a:pPr>
            <a:r>
              <a:rPr lang="en-US" sz="1500" b="1" dirty="0">
                <a:solidFill>
                  <a:srgbClr val="0F1B2D"/>
                </a:solidFill>
                <a:latin typeface="Trebuchet MS" pitchFamily="34" charset="0"/>
                <a:ea typeface="Trebuchet MS" pitchFamily="34" charset="-122"/>
                <a:cs typeface="Trebuchet MS" pitchFamily="34" charset="-120"/>
              </a:rPr>
              <a:t>Token Waste</a:t>
            </a:r>
            <a:endParaRPr lang="en-US" sz="1500" dirty="0"/>
          </a:p>
        </p:txBody>
      </p:sp>
      <p:sp>
        <p:nvSpPr>
          <p:cNvPr id="8" name="Text 5">
            <a:extLst>
              <a:ext uri="{FF2B5EF4-FFF2-40B4-BE49-F238E27FC236}">
                <a16:creationId xmlns:a16="http://schemas.microsoft.com/office/drawing/2014/main" id="{AA74AFD7-FCCB-0B94-1979-846BA31DA8EE}"/>
              </a:ext>
            </a:extLst>
          </p:cNvPr>
          <p:cNvSpPr/>
          <p:nvPr/>
        </p:nvSpPr>
        <p:spPr>
          <a:xfrm>
            <a:off x="914400" y="2514600"/>
            <a:ext cx="2011680" cy="1280160"/>
          </a:xfrm>
          <a:prstGeom prst="rect">
            <a:avLst/>
          </a:prstGeom>
          <a:noFill/>
          <a:ln/>
        </p:spPr>
        <p:txBody>
          <a:bodyPr wrap="square" lIns="0" tIns="0" rIns="0" bIns="0" rtlCol="0" anchor="ctr"/>
          <a:lstStyle/>
          <a:p>
            <a:pPr marL="0" indent="0">
              <a:lnSpc>
                <a:spcPct val="135000"/>
              </a:lnSpc>
              <a:buNone/>
            </a:pPr>
            <a:r>
              <a:rPr lang="en-US" sz="1100" dirty="0">
                <a:solidFill>
                  <a:srgbClr val="334155"/>
                </a:solidFill>
                <a:latin typeface="Calibri" pitchFamily="34" charset="0"/>
                <a:ea typeface="Calibri" pitchFamily="34" charset="-122"/>
                <a:cs typeface="Calibri" pitchFamily="34" charset="-120"/>
              </a:rPr>
              <a:t>Loading entire files when only</a:t>
            </a:r>
            <a:endParaRPr lang="en-US" sz="1100" dirty="0"/>
          </a:p>
          <a:p>
            <a:pPr marL="0" indent="0">
              <a:lnSpc>
                <a:spcPct val="135000"/>
              </a:lnSpc>
              <a:buNone/>
            </a:pPr>
            <a:r>
              <a:rPr lang="en-US" sz="1100" dirty="0">
                <a:solidFill>
                  <a:srgbClr val="334155"/>
                </a:solidFill>
                <a:latin typeface="Calibri" pitchFamily="34" charset="0"/>
                <a:ea typeface="Calibri" pitchFamily="34" charset="-122"/>
                <a:cs typeface="Calibri" pitchFamily="34" charset="-120"/>
              </a:rPr>
              <a:t>a small section is relevant.</a:t>
            </a:r>
            <a:endParaRPr lang="en-US" sz="1100" dirty="0"/>
          </a:p>
          <a:p>
            <a:pPr marL="0" indent="0">
              <a:lnSpc>
                <a:spcPct val="135000"/>
              </a:lnSpc>
              <a:buNone/>
            </a:pPr>
            <a:r>
              <a:rPr lang="en-US" sz="1100" dirty="0">
                <a:solidFill>
                  <a:srgbClr val="334155"/>
                </a:solidFill>
                <a:latin typeface="Calibri" pitchFamily="34" charset="0"/>
                <a:ea typeface="Calibri" pitchFamily="34" charset="-122"/>
                <a:cs typeface="Calibri" pitchFamily="34" charset="-120"/>
              </a:rPr>
              <a:t>90% of tokens wasted.</a:t>
            </a:r>
            <a:endParaRPr lang="en-US" sz="1100" dirty="0"/>
          </a:p>
        </p:txBody>
      </p:sp>
      <p:sp>
        <p:nvSpPr>
          <p:cNvPr id="9" name="Shape 6">
            <a:extLst>
              <a:ext uri="{FF2B5EF4-FFF2-40B4-BE49-F238E27FC236}">
                <a16:creationId xmlns:a16="http://schemas.microsoft.com/office/drawing/2014/main" id="{B828DD75-F13F-D391-545A-3B93EEA5ABBF}"/>
              </a:ext>
            </a:extLst>
          </p:cNvPr>
          <p:cNvSpPr/>
          <p:nvPr/>
        </p:nvSpPr>
        <p:spPr>
          <a:xfrm>
            <a:off x="3383280" y="1463040"/>
            <a:ext cx="2377440" cy="2560320"/>
          </a:xfrm>
          <a:prstGeom prst="rect">
            <a:avLst/>
          </a:prstGeom>
          <a:solidFill>
            <a:srgbClr val="FFFFFF"/>
          </a:solidFill>
          <a:ln/>
          <a:effectLst>
            <a:outerShdw blurRad="101600" dist="38100" dir="8100000" algn="bl" rotWithShape="0">
              <a:srgbClr val="000000">
                <a:alpha val="25000"/>
              </a:srgbClr>
            </a:outerShdw>
          </a:effectLst>
        </p:spPr>
        <p:txBody>
          <a:bodyPr/>
          <a:lstStyle/>
          <a:p>
            <a:endParaRPr lang="en-US"/>
          </a:p>
        </p:txBody>
      </p:sp>
      <p:sp>
        <p:nvSpPr>
          <p:cNvPr id="10" name="Shape 7">
            <a:extLst>
              <a:ext uri="{FF2B5EF4-FFF2-40B4-BE49-F238E27FC236}">
                <a16:creationId xmlns:a16="http://schemas.microsoft.com/office/drawing/2014/main" id="{F8286B12-8C6F-8744-4950-606E09A42058}"/>
              </a:ext>
            </a:extLst>
          </p:cNvPr>
          <p:cNvSpPr/>
          <p:nvPr/>
        </p:nvSpPr>
        <p:spPr>
          <a:xfrm>
            <a:off x="3383280" y="1463040"/>
            <a:ext cx="2377440" cy="54864"/>
          </a:xfrm>
          <a:prstGeom prst="rect">
            <a:avLst/>
          </a:prstGeom>
          <a:solidFill>
            <a:srgbClr val="F59E0B"/>
          </a:solidFill>
          <a:ln/>
        </p:spPr>
        <p:txBody>
          <a:bodyPr/>
          <a:lstStyle/>
          <a:p>
            <a:endParaRPr lang="en-US"/>
          </a:p>
        </p:txBody>
      </p:sp>
      <p:pic>
        <p:nvPicPr>
          <p:cNvPr id="11" name="Image 1" descr="preencoded.png">
            <a:extLst>
              <a:ext uri="{FF2B5EF4-FFF2-40B4-BE49-F238E27FC236}">
                <a16:creationId xmlns:a16="http://schemas.microsoft.com/office/drawing/2014/main" id="{D18E3480-AC47-DF3E-062B-C0D9337A4B91}"/>
              </a:ext>
            </a:extLst>
          </p:cNvPr>
          <p:cNvPicPr>
            <a:picLocks noChangeAspect="1"/>
          </p:cNvPicPr>
          <p:nvPr/>
        </p:nvPicPr>
        <p:blipFill>
          <a:blip r:embed="rId3"/>
          <a:stretch>
            <a:fillRect/>
          </a:stretch>
        </p:blipFill>
        <p:spPr>
          <a:xfrm>
            <a:off x="3566160" y="1737360"/>
            <a:ext cx="320040" cy="320040"/>
          </a:xfrm>
          <a:prstGeom prst="rect">
            <a:avLst/>
          </a:prstGeom>
        </p:spPr>
      </p:pic>
      <p:sp>
        <p:nvSpPr>
          <p:cNvPr id="12" name="Text 8">
            <a:extLst>
              <a:ext uri="{FF2B5EF4-FFF2-40B4-BE49-F238E27FC236}">
                <a16:creationId xmlns:a16="http://schemas.microsoft.com/office/drawing/2014/main" id="{7BDBD4FD-229C-4303-C5AA-B59A8AAEB24F}"/>
              </a:ext>
            </a:extLst>
          </p:cNvPr>
          <p:cNvSpPr/>
          <p:nvPr/>
        </p:nvSpPr>
        <p:spPr>
          <a:xfrm>
            <a:off x="3566160" y="2148840"/>
            <a:ext cx="2011680" cy="320040"/>
          </a:xfrm>
          <a:prstGeom prst="rect">
            <a:avLst/>
          </a:prstGeom>
          <a:noFill/>
          <a:ln/>
        </p:spPr>
        <p:txBody>
          <a:bodyPr wrap="square" lIns="0" tIns="0" rIns="0" bIns="0" rtlCol="0" anchor="ctr"/>
          <a:lstStyle/>
          <a:p>
            <a:pPr marL="0" indent="0">
              <a:buNone/>
            </a:pPr>
            <a:r>
              <a:rPr lang="en-US" sz="1500" b="1" dirty="0">
                <a:solidFill>
                  <a:srgbClr val="0F1B2D"/>
                </a:solidFill>
                <a:latin typeface="Trebuchet MS" pitchFamily="34" charset="0"/>
                <a:ea typeface="Trebuchet MS" pitchFamily="34" charset="-122"/>
                <a:cs typeface="Trebuchet MS" pitchFamily="34" charset="-120"/>
              </a:rPr>
              <a:t>Imprecise Retrieval</a:t>
            </a:r>
            <a:endParaRPr lang="en-US" sz="1500" dirty="0"/>
          </a:p>
        </p:txBody>
      </p:sp>
      <p:sp>
        <p:nvSpPr>
          <p:cNvPr id="13" name="Text 9">
            <a:extLst>
              <a:ext uri="{FF2B5EF4-FFF2-40B4-BE49-F238E27FC236}">
                <a16:creationId xmlns:a16="http://schemas.microsoft.com/office/drawing/2014/main" id="{DD68B2FE-A51C-3C96-4CDA-A9B201F6C368}"/>
              </a:ext>
            </a:extLst>
          </p:cNvPr>
          <p:cNvSpPr/>
          <p:nvPr/>
        </p:nvSpPr>
        <p:spPr>
          <a:xfrm>
            <a:off x="3566160" y="2514600"/>
            <a:ext cx="2011680" cy="1280160"/>
          </a:xfrm>
          <a:prstGeom prst="rect">
            <a:avLst/>
          </a:prstGeom>
          <a:noFill/>
          <a:ln/>
        </p:spPr>
        <p:txBody>
          <a:bodyPr wrap="square" lIns="0" tIns="0" rIns="0" bIns="0" rtlCol="0" anchor="ctr"/>
          <a:lstStyle/>
          <a:p>
            <a:pPr marL="0" indent="0">
              <a:lnSpc>
                <a:spcPct val="135000"/>
              </a:lnSpc>
              <a:buNone/>
            </a:pPr>
            <a:r>
              <a:rPr lang="en-US" sz="1100" dirty="0">
                <a:solidFill>
                  <a:srgbClr val="334155"/>
                </a:solidFill>
                <a:latin typeface="Calibri" pitchFamily="34" charset="0"/>
                <a:ea typeface="Calibri" pitchFamily="34" charset="-122"/>
                <a:cs typeface="Calibri" pitchFamily="34" charset="-120"/>
              </a:rPr>
              <a:t>No principled way to match</a:t>
            </a:r>
            <a:endParaRPr lang="en-US" sz="1100" dirty="0"/>
          </a:p>
          <a:p>
            <a:pPr marL="0" indent="0">
              <a:lnSpc>
                <a:spcPct val="135000"/>
              </a:lnSpc>
              <a:buNone/>
            </a:pPr>
            <a:r>
              <a:rPr lang="en-US" sz="1100" dirty="0">
                <a:solidFill>
                  <a:srgbClr val="334155"/>
                </a:solidFill>
                <a:latin typeface="Calibri" pitchFamily="34" charset="0"/>
                <a:ea typeface="Calibri" pitchFamily="34" charset="-122"/>
                <a:cs typeface="Calibri" pitchFamily="34" charset="-120"/>
              </a:rPr>
              <a:t>a query to the right section.</a:t>
            </a:r>
            <a:endParaRPr lang="en-US" sz="1100" dirty="0"/>
          </a:p>
          <a:p>
            <a:pPr marL="0" indent="0">
              <a:lnSpc>
                <a:spcPct val="135000"/>
              </a:lnSpc>
              <a:buNone/>
            </a:pPr>
            <a:r>
              <a:rPr lang="en-US" sz="1100" dirty="0">
                <a:solidFill>
                  <a:srgbClr val="334155"/>
                </a:solidFill>
                <a:latin typeface="Calibri" pitchFamily="34" charset="0"/>
                <a:ea typeface="Calibri" pitchFamily="34" charset="-122"/>
                <a:cs typeface="Calibri" pitchFamily="34" charset="-120"/>
              </a:rPr>
              <a:t>Guessing or loading everything.</a:t>
            </a:r>
            <a:endParaRPr lang="en-US" sz="1100" dirty="0"/>
          </a:p>
        </p:txBody>
      </p:sp>
      <p:sp>
        <p:nvSpPr>
          <p:cNvPr id="14" name="Shape 10">
            <a:extLst>
              <a:ext uri="{FF2B5EF4-FFF2-40B4-BE49-F238E27FC236}">
                <a16:creationId xmlns:a16="http://schemas.microsoft.com/office/drawing/2014/main" id="{99AAF29B-5B0D-59AD-2D25-6A1620AE99A6}"/>
              </a:ext>
            </a:extLst>
          </p:cNvPr>
          <p:cNvSpPr/>
          <p:nvPr/>
        </p:nvSpPr>
        <p:spPr>
          <a:xfrm>
            <a:off x="6035040" y="1463040"/>
            <a:ext cx="2377440" cy="2560320"/>
          </a:xfrm>
          <a:prstGeom prst="rect">
            <a:avLst/>
          </a:prstGeom>
          <a:solidFill>
            <a:srgbClr val="FFFFFF"/>
          </a:solidFill>
          <a:ln/>
          <a:effectLst>
            <a:outerShdw blurRad="101600" dist="38100" dir="8100000" algn="bl" rotWithShape="0">
              <a:srgbClr val="000000">
                <a:alpha val="25000"/>
              </a:srgbClr>
            </a:outerShdw>
          </a:effectLst>
        </p:spPr>
        <p:txBody>
          <a:bodyPr/>
          <a:lstStyle/>
          <a:p>
            <a:endParaRPr lang="en-US"/>
          </a:p>
        </p:txBody>
      </p:sp>
      <p:sp>
        <p:nvSpPr>
          <p:cNvPr id="15" name="Shape 11">
            <a:extLst>
              <a:ext uri="{FF2B5EF4-FFF2-40B4-BE49-F238E27FC236}">
                <a16:creationId xmlns:a16="http://schemas.microsoft.com/office/drawing/2014/main" id="{60837F35-9809-9D1B-7774-5DBB12A35EC0}"/>
              </a:ext>
            </a:extLst>
          </p:cNvPr>
          <p:cNvSpPr/>
          <p:nvPr/>
        </p:nvSpPr>
        <p:spPr>
          <a:xfrm>
            <a:off x="6035040" y="1463040"/>
            <a:ext cx="2377440" cy="54864"/>
          </a:xfrm>
          <a:prstGeom prst="rect">
            <a:avLst/>
          </a:prstGeom>
          <a:solidFill>
            <a:srgbClr val="F59E0B"/>
          </a:solidFill>
          <a:ln/>
        </p:spPr>
        <p:txBody>
          <a:bodyPr/>
          <a:lstStyle/>
          <a:p>
            <a:endParaRPr lang="en-US"/>
          </a:p>
        </p:txBody>
      </p:sp>
      <p:pic>
        <p:nvPicPr>
          <p:cNvPr id="16" name="Image 2" descr="preencoded.png">
            <a:extLst>
              <a:ext uri="{FF2B5EF4-FFF2-40B4-BE49-F238E27FC236}">
                <a16:creationId xmlns:a16="http://schemas.microsoft.com/office/drawing/2014/main" id="{681E02AC-DC72-558B-BAED-67F8758CA810}"/>
              </a:ext>
            </a:extLst>
          </p:cNvPr>
          <p:cNvPicPr>
            <a:picLocks noChangeAspect="1"/>
          </p:cNvPicPr>
          <p:nvPr/>
        </p:nvPicPr>
        <p:blipFill>
          <a:blip r:embed="rId3"/>
          <a:stretch>
            <a:fillRect/>
          </a:stretch>
        </p:blipFill>
        <p:spPr>
          <a:xfrm>
            <a:off x="6217920" y="1737360"/>
            <a:ext cx="320040" cy="320040"/>
          </a:xfrm>
          <a:prstGeom prst="rect">
            <a:avLst/>
          </a:prstGeom>
        </p:spPr>
      </p:pic>
      <p:sp>
        <p:nvSpPr>
          <p:cNvPr id="17" name="Text 12">
            <a:extLst>
              <a:ext uri="{FF2B5EF4-FFF2-40B4-BE49-F238E27FC236}">
                <a16:creationId xmlns:a16="http://schemas.microsoft.com/office/drawing/2014/main" id="{DA6481C9-AB7D-B331-8DD2-F0574F4F5DCC}"/>
              </a:ext>
            </a:extLst>
          </p:cNvPr>
          <p:cNvSpPr/>
          <p:nvPr/>
        </p:nvSpPr>
        <p:spPr>
          <a:xfrm>
            <a:off x="6217920" y="2148840"/>
            <a:ext cx="2011680" cy="320040"/>
          </a:xfrm>
          <a:prstGeom prst="rect">
            <a:avLst/>
          </a:prstGeom>
          <a:noFill/>
          <a:ln/>
        </p:spPr>
        <p:txBody>
          <a:bodyPr wrap="square" lIns="0" tIns="0" rIns="0" bIns="0" rtlCol="0" anchor="ctr"/>
          <a:lstStyle/>
          <a:p>
            <a:pPr marL="0" indent="0">
              <a:buNone/>
            </a:pPr>
            <a:r>
              <a:rPr lang="en-US" sz="1500" b="1" dirty="0">
                <a:solidFill>
                  <a:srgbClr val="0F1B2D"/>
                </a:solidFill>
                <a:latin typeface="Trebuchet MS" pitchFamily="34" charset="0"/>
                <a:ea typeface="Trebuchet MS" pitchFamily="34" charset="-122"/>
                <a:cs typeface="Trebuchet MS" pitchFamily="34" charset="-120"/>
              </a:rPr>
              <a:t>Context Loss</a:t>
            </a:r>
            <a:endParaRPr lang="en-US" sz="1500" dirty="0"/>
          </a:p>
        </p:txBody>
      </p:sp>
      <p:sp>
        <p:nvSpPr>
          <p:cNvPr id="18" name="Text 13">
            <a:extLst>
              <a:ext uri="{FF2B5EF4-FFF2-40B4-BE49-F238E27FC236}">
                <a16:creationId xmlns:a16="http://schemas.microsoft.com/office/drawing/2014/main" id="{F562B928-204C-1453-96C9-1F222633A274}"/>
              </a:ext>
            </a:extLst>
          </p:cNvPr>
          <p:cNvSpPr/>
          <p:nvPr/>
        </p:nvSpPr>
        <p:spPr>
          <a:xfrm>
            <a:off x="6217920" y="2514600"/>
            <a:ext cx="2011680" cy="1280160"/>
          </a:xfrm>
          <a:prstGeom prst="rect">
            <a:avLst/>
          </a:prstGeom>
          <a:noFill/>
          <a:ln/>
        </p:spPr>
        <p:txBody>
          <a:bodyPr wrap="square" lIns="0" tIns="0" rIns="0" bIns="0" rtlCol="0" anchor="ctr"/>
          <a:lstStyle/>
          <a:p>
            <a:pPr marL="0" indent="0">
              <a:lnSpc>
                <a:spcPct val="135000"/>
              </a:lnSpc>
              <a:buNone/>
            </a:pPr>
            <a:r>
              <a:rPr lang="en-US" sz="1100" dirty="0">
                <a:solidFill>
                  <a:srgbClr val="334155"/>
                </a:solidFill>
                <a:latin typeface="Calibri" pitchFamily="34" charset="0"/>
                <a:ea typeface="Calibri" pitchFamily="34" charset="-122"/>
                <a:cs typeface="Calibri" pitchFamily="34" charset="-120"/>
              </a:rPr>
              <a:t>Every session starts from zero.</a:t>
            </a:r>
            <a:endParaRPr lang="en-US" sz="1100" dirty="0"/>
          </a:p>
          <a:p>
            <a:pPr marL="0" indent="0">
              <a:lnSpc>
                <a:spcPct val="135000"/>
              </a:lnSpc>
              <a:buNone/>
            </a:pPr>
            <a:r>
              <a:rPr lang="en-US" sz="1100" dirty="0">
                <a:solidFill>
                  <a:srgbClr val="334155"/>
                </a:solidFill>
                <a:latin typeface="Calibri" pitchFamily="34" charset="0"/>
                <a:ea typeface="Calibri" pitchFamily="34" charset="-122"/>
                <a:cs typeface="Calibri" pitchFamily="34" charset="-120"/>
              </a:rPr>
              <a:t>No way to resume where</a:t>
            </a:r>
            <a:endParaRPr lang="en-US" sz="1100" dirty="0"/>
          </a:p>
          <a:p>
            <a:pPr marL="0" indent="0">
              <a:lnSpc>
                <a:spcPct val="135000"/>
              </a:lnSpc>
              <a:buNone/>
            </a:pPr>
            <a:r>
              <a:rPr lang="en-US" sz="1100" dirty="0">
                <a:solidFill>
                  <a:srgbClr val="334155"/>
                </a:solidFill>
                <a:latin typeface="Calibri" pitchFamily="34" charset="0"/>
                <a:ea typeface="Calibri" pitchFamily="34" charset="-122"/>
                <a:cs typeface="Calibri" pitchFamily="34" charset="-120"/>
              </a:rPr>
              <a:t>the AI left off.</a:t>
            </a:r>
            <a:endParaRPr lang="en-US" sz="1100" dirty="0"/>
          </a:p>
        </p:txBody>
      </p:sp>
      <p:sp>
        <p:nvSpPr>
          <p:cNvPr id="19" name="Shape 14">
            <a:extLst>
              <a:ext uri="{FF2B5EF4-FFF2-40B4-BE49-F238E27FC236}">
                <a16:creationId xmlns:a16="http://schemas.microsoft.com/office/drawing/2014/main" id="{66462735-3F7E-7A75-0B12-9DD966C3F4B2}"/>
              </a:ext>
            </a:extLst>
          </p:cNvPr>
          <p:cNvSpPr/>
          <p:nvPr/>
        </p:nvSpPr>
        <p:spPr>
          <a:xfrm>
            <a:off x="0" y="4343400"/>
            <a:ext cx="9144000" cy="800100"/>
          </a:xfrm>
          <a:prstGeom prst="rect">
            <a:avLst/>
          </a:prstGeom>
          <a:solidFill>
            <a:srgbClr val="0F1B2D"/>
          </a:solidFill>
          <a:ln/>
        </p:spPr>
        <p:txBody>
          <a:bodyPr/>
          <a:lstStyle/>
          <a:p>
            <a:endParaRPr lang="en-US"/>
          </a:p>
        </p:txBody>
      </p:sp>
      <p:sp>
        <p:nvSpPr>
          <p:cNvPr id="20" name="Text 15">
            <a:extLst>
              <a:ext uri="{FF2B5EF4-FFF2-40B4-BE49-F238E27FC236}">
                <a16:creationId xmlns:a16="http://schemas.microsoft.com/office/drawing/2014/main" id="{7988052F-0353-45CD-A7FA-646A1D0CF497}"/>
              </a:ext>
            </a:extLst>
          </p:cNvPr>
          <p:cNvSpPr/>
          <p:nvPr/>
        </p:nvSpPr>
        <p:spPr>
          <a:xfrm>
            <a:off x="731520" y="4434840"/>
            <a:ext cx="7680960" cy="594360"/>
          </a:xfrm>
          <a:prstGeom prst="rect">
            <a:avLst/>
          </a:prstGeom>
          <a:noFill/>
          <a:ln/>
        </p:spPr>
        <p:txBody>
          <a:bodyPr wrap="square" lIns="0" tIns="0" rIns="0" bIns="0" rtlCol="0" anchor="ctr"/>
          <a:lstStyle/>
          <a:p>
            <a:pPr marL="0" indent="0" algn="ctr">
              <a:buNone/>
            </a:pPr>
            <a:r>
              <a:rPr lang="en-US" sz="1300" dirty="0">
                <a:solidFill>
                  <a:srgbClr val="22D3EE"/>
                </a:solidFill>
                <a:latin typeface="Calibri" pitchFamily="34" charset="0"/>
                <a:ea typeface="Calibri" pitchFamily="34" charset="-122"/>
                <a:cs typeface="Calibri" pitchFamily="34" charset="-120"/>
              </a:rPr>
              <a:t>A 5,000-token file where only 500 tokens matter wastes 90% of the context window budget</a:t>
            </a:r>
            <a:endParaRPr lang="en-US" sz="1300" dirty="0"/>
          </a:p>
        </p:txBody>
      </p:sp>
    </p:spTree>
    <p:extLst>
      <p:ext uri="{BB962C8B-B14F-4D97-AF65-F5344CB8AC3E}">
        <p14:creationId xmlns:p14="http://schemas.microsoft.com/office/powerpoint/2010/main" val="2187096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marL="0" indent="0">
              <a:buNone/>
            </a:pPr>
            <a:r>
              <a:rPr lang="en-US" sz="3200" b="1" dirty="0">
                <a:solidFill>
                  <a:srgbClr val="0F1B2D"/>
                </a:solidFill>
                <a:latin typeface="Trebuchet MS" pitchFamily="34" charset="0"/>
                <a:ea typeface="Trebuchet MS" pitchFamily="34" charset="-122"/>
                <a:cs typeface="Trebuchet MS" pitchFamily="34" charset="-120"/>
              </a:rPr>
              <a:t>The Solution</a:t>
            </a:r>
            <a:endParaRPr lang="en-US" sz="3200" dirty="0"/>
          </a:p>
        </p:txBody>
      </p:sp>
      <p:sp>
        <p:nvSpPr>
          <p:cNvPr id="3" name="Text 1"/>
          <p:cNvSpPr/>
          <p:nvPr/>
        </p:nvSpPr>
        <p:spPr>
          <a:xfrm>
            <a:off x="731520" y="777240"/>
            <a:ext cx="7315200" cy="32004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Compile documentation like source code</a:t>
            </a:r>
            <a:endParaRPr lang="en-US" sz="1400" dirty="0"/>
          </a:p>
        </p:txBody>
      </p:sp>
      <p:sp>
        <p:nvSpPr>
          <p:cNvPr id="4" name="Shape 2"/>
          <p:cNvSpPr/>
          <p:nvPr/>
        </p:nvSpPr>
        <p:spPr>
          <a:xfrm>
            <a:off x="457200" y="1371600"/>
            <a:ext cx="3840480" cy="3108960"/>
          </a:xfrm>
          <a:prstGeom prst="rect">
            <a:avLst/>
          </a:prstGeom>
          <a:solidFill>
            <a:srgbClr val="FFFFFF"/>
          </a:solidFill>
          <a:ln/>
          <a:effectLst>
            <a:outerShdw blurRad="101600" dist="38100" dir="8100000" algn="bl" rotWithShape="0">
              <a:srgbClr val="000000">
                <a:alpha val="25000"/>
              </a:srgbClr>
            </a:outerShdw>
          </a:effectLst>
        </p:spPr>
        <p:txBody>
          <a:bodyPr/>
          <a:lstStyle/>
          <a:p>
            <a:endParaRPr lang="en-US"/>
          </a:p>
        </p:txBody>
      </p:sp>
      <p:sp>
        <p:nvSpPr>
          <p:cNvPr id="5" name="Shape 3"/>
          <p:cNvSpPr/>
          <p:nvPr/>
        </p:nvSpPr>
        <p:spPr>
          <a:xfrm>
            <a:off x="457200" y="1371600"/>
            <a:ext cx="3840480" cy="457200"/>
          </a:xfrm>
          <a:prstGeom prst="rect">
            <a:avLst/>
          </a:prstGeom>
          <a:solidFill>
            <a:srgbClr val="EF4444"/>
          </a:solidFill>
          <a:ln/>
        </p:spPr>
        <p:txBody>
          <a:bodyPr/>
          <a:lstStyle/>
          <a:p>
            <a:endParaRPr lang="en-US"/>
          </a:p>
        </p:txBody>
      </p:sp>
      <p:sp>
        <p:nvSpPr>
          <p:cNvPr id="6" name="Text 4"/>
          <p:cNvSpPr/>
          <p:nvPr/>
        </p:nvSpPr>
        <p:spPr>
          <a:xfrm>
            <a:off x="457200" y="1371600"/>
            <a:ext cx="38404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BEFORE — Raw File Loading</a:t>
            </a:r>
            <a:endParaRPr lang="en-US" sz="1200" dirty="0"/>
          </a:p>
        </p:txBody>
      </p:sp>
      <p:pic>
        <p:nvPicPr>
          <p:cNvPr id="7" name="Image 0" descr="preencoded.png"/>
          <p:cNvPicPr>
            <a:picLocks noChangeAspect="1"/>
          </p:cNvPicPr>
          <p:nvPr/>
        </p:nvPicPr>
        <p:blipFill>
          <a:blip r:embed="rId3"/>
          <a:stretch>
            <a:fillRect/>
          </a:stretch>
        </p:blipFill>
        <p:spPr>
          <a:xfrm>
            <a:off x="731520" y="2011680"/>
            <a:ext cx="182880" cy="182880"/>
          </a:xfrm>
          <a:prstGeom prst="rect">
            <a:avLst/>
          </a:prstGeom>
        </p:spPr>
      </p:pic>
      <p:sp>
        <p:nvSpPr>
          <p:cNvPr id="8" name="Text 5"/>
          <p:cNvSpPr/>
          <p:nvPr/>
        </p:nvSpPr>
        <p:spPr>
          <a:xfrm>
            <a:off x="1051560" y="1993392"/>
            <a:ext cx="3017520" cy="2743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Load entire documentation files</a:t>
            </a:r>
            <a:endParaRPr lang="en-US" sz="1100" dirty="0"/>
          </a:p>
        </p:txBody>
      </p:sp>
      <p:pic>
        <p:nvPicPr>
          <p:cNvPr id="9" name="Image 1" descr="preencoded.png"/>
          <p:cNvPicPr>
            <a:picLocks noChangeAspect="1"/>
          </p:cNvPicPr>
          <p:nvPr/>
        </p:nvPicPr>
        <p:blipFill>
          <a:blip r:embed="rId3"/>
          <a:stretch>
            <a:fillRect/>
          </a:stretch>
        </p:blipFill>
        <p:spPr>
          <a:xfrm>
            <a:off x="731520" y="2450592"/>
            <a:ext cx="182880" cy="182880"/>
          </a:xfrm>
          <a:prstGeom prst="rect">
            <a:avLst/>
          </a:prstGeom>
        </p:spPr>
      </p:pic>
      <p:sp>
        <p:nvSpPr>
          <p:cNvPr id="10" name="Text 6"/>
          <p:cNvSpPr/>
          <p:nvPr/>
        </p:nvSpPr>
        <p:spPr>
          <a:xfrm>
            <a:off x="1051560" y="2432304"/>
            <a:ext cx="3017520" cy="2743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Hope the relevant section is in there</a:t>
            </a:r>
            <a:endParaRPr lang="en-US" sz="1100" dirty="0"/>
          </a:p>
        </p:txBody>
      </p:sp>
      <p:pic>
        <p:nvPicPr>
          <p:cNvPr id="11" name="Image 2" descr="preencoded.png"/>
          <p:cNvPicPr>
            <a:picLocks noChangeAspect="1"/>
          </p:cNvPicPr>
          <p:nvPr/>
        </p:nvPicPr>
        <p:blipFill>
          <a:blip r:embed="rId3"/>
          <a:stretch>
            <a:fillRect/>
          </a:stretch>
        </p:blipFill>
        <p:spPr>
          <a:xfrm>
            <a:off x="731520" y="2889504"/>
            <a:ext cx="182880" cy="182880"/>
          </a:xfrm>
          <a:prstGeom prst="rect">
            <a:avLst/>
          </a:prstGeom>
        </p:spPr>
      </p:pic>
      <p:sp>
        <p:nvSpPr>
          <p:cNvPr id="12" name="Text 7"/>
          <p:cNvSpPr/>
          <p:nvPr/>
        </p:nvSpPr>
        <p:spPr>
          <a:xfrm>
            <a:off x="1051560" y="2871216"/>
            <a:ext cx="3017520" cy="2743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Burn tokens on irrelevant content</a:t>
            </a:r>
            <a:endParaRPr lang="en-US" sz="1100" dirty="0"/>
          </a:p>
        </p:txBody>
      </p:sp>
      <p:pic>
        <p:nvPicPr>
          <p:cNvPr id="13" name="Image 3" descr="preencoded.png"/>
          <p:cNvPicPr>
            <a:picLocks noChangeAspect="1"/>
          </p:cNvPicPr>
          <p:nvPr/>
        </p:nvPicPr>
        <p:blipFill>
          <a:blip r:embed="rId3"/>
          <a:stretch>
            <a:fillRect/>
          </a:stretch>
        </p:blipFill>
        <p:spPr>
          <a:xfrm>
            <a:off x="731520" y="3328416"/>
            <a:ext cx="182880" cy="182880"/>
          </a:xfrm>
          <a:prstGeom prst="rect">
            <a:avLst/>
          </a:prstGeom>
        </p:spPr>
      </p:pic>
      <p:sp>
        <p:nvSpPr>
          <p:cNvPr id="14" name="Text 8"/>
          <p:cNvSpPr/>
          <p:nvPr/>
        </p:nvSpPr>
        <p:spPr>
          <a:xfrm>
            <a:off x="1051560" y="3310128"/>
            <a:ext cx="3017520" cy="2743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Lose all context between sessions</a:t>
            </a:r>
            <a:endParaRPr lang="en-US" sz="1100" dirty="0"/>
          </a:p>
        </p:txBody>
      </p:sp>
      <p:pic>
        <p:nvPicPr>
          <p:cNvPr id="15" name="Image 4" descr="preencoded.png"/>
          <p:cNvPicPr>
            <a:picLocks noChangeAspect="1"/>
          </p:cNvPicPr>
          <p:nvPr/>
        </p:nvPicPr>
        <p:blipFill>
          <a:blip r:embed="rId3"/>
          <a:stretch>
            <a:fillRect/>
          </a:stretch>
        </p:blipFill>
        <p:spPr>
          <a:xfrm>
            <a:off x="731520" y="3767328"/>
            <a:ext cx="182880" cy="182880"/>
          </a:xfrm>
          <a:prstGeom prst="rect">
            <a:avLst/>
          </a:prstGeom>
        </p:spPr>
      </p:pic>
      <p:sp>
        <p:nvSpPr>
          <p:cNvPr id="16" name="Text 9"/>
          <p:cNvSpPr/>
          <p:nvPr/>
        </p:nvSpPr>
        <p:spPr>
          <a:xfrm>
            <a:off x="1051560" y="3749040"/>
            <a:ext cx="3017520" cy="2743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Repeat from scratch every time</a:t>
            </a:r>
            <a:endParaRPr lang="en-US" sz="1100" dirty="0"/>
          </a:p>
        </p:txBody>
      </p:sp>
      <p:pic>
        <p:nvPicPr>
          <p:cNvPr id="17" name="Image 5" descr="preencoded.png"/>
          <p:cNvPicPr>
            <a:picLocks noChangeAspect="1"/>
          </p:cNvPicPr>
          <p:nvPr/>
        </p:nvPicPr>
        <p:blipFill>
          <a:blip r:embed="rId4"/>
          <a:stretch>
            <a:fillRect/>
          </a:stretch>
        </p:blipFill>
        <p:spPr>
          <a:xfrm>
            <a:off x="4434840" y="2651760"/>
            <a:ext cx="274320" cy="274320"/>
          </a:xfrm>
          <a:prstGeom prst="rect">
            <a:avLst/>
          </a:prstGeom>
        </p:spPr>
      </p:pic>
      <p:sp>
        <p:nvSpPr>
          <p:cNvPr id="18" name="Shape 10"/>
          <p:cNvSpPr/>
          <p:nvPr/>
        </p:nvSpPr>
        <p:spPr>
          <a:xfrm>
            <a:off x="4846320" y="1371600"/>
            <a:ext cx="3840480" cy="3108960"/>
          </a:xfrm>
          <a:prstGeom prst="rect">
            <a:avLst/>
          </a:prstGeom>
          <a:solidFill>
            <a:srgbClr val="FFFFFF"/>
          </a:solidFill>
          <a:ln/>
          <a:effectLst>
            <a:outerShdw blurRad="101600" dist="38100" dir="8100000" algn="bl" rotWithShape="0">
              <a:srgbClr val="000000">
                <a:alpha val="25000"/>
              </a:srgbClr>
            </a:outerShdw>
          </a:effectLst>
        </p:spPr>
        <p:txBody>
          <a:bodyPr/>
          <a:lstStyle/>
          <a:p>
            <a:endParaRPr lang="en-US"/>
          </a:p>
        </p:txBody>
      </p:sp>
      <p:sp>
        <p:nvSpPr>
          <p:cNvPr id="19" name="Shape 11"/>
          <p:cNvSpPr/>
          <p:nvPr/>
        </p:nvSpPr>
        <p:spPr>
          <a:xfrm>
            <a:off x="4846320" y="1371600"/>
            <a:ext cx="3840480" cy="457200"/>
          </a:xfrm>
          <a:prstGeom prst="rect">
            <a:avLst/>
          </a:prstGeom>
          <a:solidFill>
            <a:srgbClr val="10B981"/>
          </a:solidFill>
          <a:ln/>
        </p:spPr>
        <p:txBody>
          <a:bodyPr/>
          <a:lstStyle/>
          <a:p>
            <a:endParaRPr lang="en-US"/>
          </a:p>
        </p:txBody>
      </p:sp>
      <p:sp>
        <p:nvSpPr>
          <p:cNvPr id="20" name="Text 12"/>
          <p:cNvSpPr/>
          <p:nvPr/>
        </p:nvSpPr>
        <p:spPr>
          <a:xfrm>
            <a:off x="4846320" y="1371600"/>
            <a:ext cx="38404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AFTER — codectx Compilation</a:t>
            </a:r>
            <a:endParaRPr lang="en-US" sz="1200" dirty="0"/>
          </a:p>
        </p:txBody>
      </p:sp>
      <p:pic>
        <p:nvPicPr>
          <p:cNvPr id="21" name="Image 6" descr="preencoded.png"/>
          <p:cNvPicPr>
            <a:picLocks noChangeAspect="1"/>
          </p:cNvPicPr>
          <p:nvPr/>
        </p:nvPicPr>
        <p:blipFill>
          <a:blip r:embed="rId5"/>
          <a:stretch>
            <a:fillRect/>
          </a:stretch>
        </p:blipFill>
        <p:spPr>
          <a:xfrm>
            <a:off x="5120640" y="2011680"/>
            <a:ext cx="182880" cy="182880"/>
          </a:xfrm>
          <a:prstGeom prst="rect">
            <a:avLst/>
          </a:prstGeom>
        </p:spPr>
      </p:pic>
      <p:sp>
        <p:nvSpPr>
          <p:cNvPr id="22" name="Text 13"/>
          <p:cNvSpPr/>
          <p:nvPr/>
        </p:nvSpPr>
        <p:spPr>
          <a:xfrm>
            <a:off x="5440680" y="1993392"/>
            <a:ext cx="3017520" cy="2743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Compile docs into indexed chunks</a:t>
            </a:r>
            <a:endParaRPr lang="en-US" sz="1100" dirty="0"/>
          </a:p>
        </p:txBody>
      </p:sp>
      <p:pic>
        <p:nvPicPr>
          <p:cNvPr id="23" name="Image 7" descr="preencoded.png"/>
          <p:cNvPicPr>
            <a:picLocks noChangeAspect="1"/>
          </p:cNvPicPr>
          <p:nvPr/>
        </p:nvPicPr>
        <p:blipFill>
          <a:blip r:embed="rId5"/>
          <a:stretch>
            <a:fillRect/>
          </a:stretch>
        </p:blipFill>
        <p:spPr>
          <a:xfrm>
            <a:off x="5120640" y="2450592"/>
            <a:ext cx="182880" cy="182880"/>
          </a:xfrm>
          <a:prstGeom prst="rect">
            <a:avLst/>
          </a:prstGeom>
        </p:spPr>
      </p:pic>
      <p:sp>
        <p:nvSpPr>
          <p:cNvPr id="24" name="Text 14"/>
          <p:cNvSpPr/>
          <p:nvPr/>
        </p:nvSpPr>
        <p:spPr>
          <a:xfrm>
            <a:off x="5440680" y="2432304"/>
            <a:ext cx="3017520" cy="2743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BM25 search finds exact sections</a:t>
            </a:r>
            <a:endParaRPr lang="en-US" sz="1100" dirty="0"/>
          </a:p>
        </p:txBody>
      </p:sp>
      <p:pic>
        <p:nvPicPr>
          <p:cNvPr id="25" name="Image 8" descr="preencoded.png"/>
          <p:cNvPicPr>
            <a:picLocks noChangeAspect="1"/>
          </p:cNvPicPr>
          <p:nvPr/>
        </p:nvPicPr>
        <p:blipFill>
          <a:blip r:embed="rId5"/>
          <a:stretch>
            <a:fillRect/>
          </a:stretch>
        </p:blipFill>
        <p:spPr>
          <a:xfrm>
            <a:off x="5120640" y="2889504"/>
            <a:ext cx="182880" cy="182880"/>
          </a:xfrm>
          <a:prstGeom prst="rect">
            <a:avLst/>
          </a:prstGeom>
        </p:spPr>
      </p:pic>
      <p:sp>
        <p:nvSpPr>
          <p:cNvPr id="26" name="Text 15"/>
          <p:cNvSpPr/>
          <p:nvPr/>
        </p:nvSpPr>
        <p:spPr>
          <a:xfrm>
            <a:off x="5440680" y="2871216"/>
            <a:ext cx="3017520" cy="2743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Load only targeted content</a:t>
            </a:r>
            <a:endParaRPr lang="en-US" sz="1100" dirty="0"/>
          </a:p>
        </p:txBody>
      </p:sp>
      <p:pic>
        <p:nvPicPr>
          <p:cNvPr id="27" name="Image 9" descr="preencoded.png"/>
          <p:cNvPicPr>
            <a:picLocks noChangeAspect="1"/>
          </p:cNvPicPr>
          <p:nvPr/>
        </p:nvPicPr>
        <p:blipFill>
          <a:blip r:embed="rId5"/>
          <a:stretch>
            <a:fillRect/>
          </a:stretch>
        </p:blipFill>
        <p:spPr>
          <a:xfrm>
            <a:off x="5120640" y="3328416"/>
            <a:ext cx="182880" cy="182880"/>
          </a:xfrm>
          <a:prstGeom prst="rect">
            <a:avLst/>
          </a:prstGeom>
        </p:spPr>
      </p:pic>
      <p:sp>
        <p:nvSpPr>
          <p:cNvPr id="28" name="Text 16"/>
          <p:cNvSpPr/>
          <p:nvPr/>
        </p:nvSpPr>
        <p:spPr>
          <a:xfrm>
            <a:off x="5440680" y="3310128"/>
            <a:ext cx="3017520" cy="2743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Plans track state across sessions</a:t>
            </a:r>
            <a:endParaRPr lang="en-US" sz="1100" dirty="0"/>
          </a:p>
        </p:txBody>
      </p:sp>
      <p:pic>
        <p:nvPicPr>
          <p:cNvPr id="29" name="Image 10" descr="preencoded.png"/>
          <p:cNvPicPr>
            <a:picLocks noChangeAspect="1"/>
          </p:cNvPicPr>
          <p:nvPr/>
        </p:nvPicPr>
        <p:blipFill>
          <a:blip r:embed="rId5"/>
          <a:stretch>
            <a:fillRect/>
          </a:stretch>
        </p:blipFill>
        <p:spPr>
          <a:xfrm>
            <a:off x="5120640" y="3767328"/>
            <a:ext cx="182880" cy="182880"/>
          </a:xfrm>
          <a:prstGeom prst="rect">
            <a:avLst/>
          </a:prstGeom>
        </p:spPr>
      </p:pic>
      <p:sp>
        <p:nvSpPr>
          <p:cNvPr id="30" name="Text 17"/>
          <p:cNvSpPr/>
          <p:nvPr/>
        </p:nvSpPr>
        <p:spPr>
          <a:xfrm>
            <a:off x="5440680" y="3749040"/>
            <a:ext cx="3017520" cy="2743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AI resumes with full context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name="Slide 4">
    <p:bg>
      <p:bgPr>
        <a:solidFill>
          <a:srgbClr val="0A1220"/>
        </a:solidFill>
        <a:effectLst/>
      </p:bgPr>
    </p:bg>
    <p:spTree>
      <p:nvGrpSpPr>
        <p:cNvPr id="1" name=""/>
        <p:cNvGrpSpPr/>
        <p:nvPr/>
      </p:nvGrpSpPr>
      <p:grpSpPr>
        <a:xfrm>
          <a:off x="0" y="0"/>
          <a:ext cx="0" cy="0"/>
          <a:chOff x="0" y="0"/>
          <a:chExt cx="0" cy="0"/>
        </a:xfrm>
      </p:grpSpPr>
      <p:sp>
        <p:nvSpPr>
          <p:cNvPr id="2" name="Text 0"/>
          <p:cNvSpPr/>
          <p:nvPr/>
        </p:nvSpPr>
        <p:spPr>
          <a:xfrm>
            <a:off x="731520" y="228600"/>
            <a:ext cx="7680960" cy="50292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Compilation Pipeline</a:t>
            </a:r>
            <a:endParaRPr lang="en-US" sz="3000" dirty="0"/>
          </a:p>
        </p:txBody>
      </p:sp>
      <p:sp>
        <p:nvSpPr>
          <p:cNvPr id="3" name="Text 1"/>
          <p:cNvSpPr/>
          <p:nvPr/>
        </p:nvSpPr>
        <p:spPr>
          <a:xfrm>
            <a:off x="731520" y="685800"/>
            <a:ext cx="7315200" cy="27432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Raw markdown becomes an AI-optimized knowledge structure</a:t>
            </a:r>
            <a:endParaRPr lang="en-US" sz="1300" dirty="0"/>
          </a:p>
        </p:txBody>
      </p:sp>
      <p:sp>
        <p:nvSpPr>
          <p:cNvPr id="4" name="Shape 2"/>
          <p:cNvSpPr/>
          <p:nvPr/>
        </p:nvSpPr>
        <p:spPr>
          <a:xfrm>
            <a:off x="731520" y="1371600"/>
            <a:ext cx="1371600" cy="1097280"/>
          </a:xfrm>
          <a:prstGeom prst="rect">
            <a:avLst/>
          </a:prstGeom>
          <a:solidFill>
            <a:srgbClr val="162540"/>
          </a:solidFill>
          <a:ln w="12700">
            <a:solidFill>
              <a:srgbClr val="0891B2"/>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280160" y="1508760"/>
            <a:ext cx="274320" cy="274320"/>
          </a:xfrm>
          <a:prstGeom prst="rect">
            <a:avLst/>
          </a:prstGeom>
        </p:spPr>
      </p:pic>
      <p:sp>
        <p:nvSpPr>
          <p:cNvPr id="6" name="Text 3"/>
          <p:cNvSpPr/>
          <p:nvPr/>
        </p:nvSpPr>
        <p:spPr>
          <a:xfrm>
            <a:off x="731520" y="1828800"/>
            <a:ext cx="1371600" cy="548640"/>
          </a:xfrm>
          <a:prstGeom prst="rect">
            <a:avLst/>
          </a:prstGeom>
          <a:noFill/>
          <a:ln/>
        </p:spPr>
        <p:txBody>
          <a:bodyPr wrap="square" lIns="0" tIns="0" rIns="0" bIns="0" rtlCol="0" anchor="ctr"/>
          <a:lstStyle/>
          <a:p>
            <a:pPr marL="0" indent="0" algn="ctr">
              <a:lnSpc>
                <a:spcPct val="120000"/>
              </a:lnSpc>
              <a:buNone/>
            </a:pPr>
            <a:r>
              <a:rPr lang="en-US" sz="1000" dirty="0">
                <a:solidFill>
                  <a:srgbClr val="FFFFFF"/>
                </a:solidFill>
                <a:latin typeface="Calibri" pitchFamily="34" charset="0"/>
                <a:ea typeface="Calibri" pitchFamily="34" charset="-122"/>
                <a:cs typeface="Calibri" pitchFamily="34" charset="-120"/>
              </a:rPr>
              <a:t>Parse &amp;</a:t>
            </a:r>
            <a:endParaRPr lang="en-US" sz="1000" dirty="0"/>
          </a:p>
          <a:p>
            <a:pPr marL="0" indent="0" algn="ctr">
              <a:lnSpc>
                <a:spcPct val="120000"/>
              </a:lnSpc>
              <a:buNone/>
            </a:pPr>
            <a:r>
              <a:rPr lang="en-US" sz="1000" dirty="0">
                <a:solidFill>
                  <a:srgbClr val="FFFFFF"/>
                </a:solidFill>
                <a:latin typeface="Calibri" pitchFamily="34" charset="0"/>
                <a:ea typeface="Calibri" pitchFamily="34" charset="-122"/>
                <a:cs typeface="Calibri" pitchFamily="34" charset="-120"/>
              </a:rPr>
              <a:t>Validate</a:t>
            </a:r>
            <a:endParaRPr lang="en-US" sz="1000" dirty="0"/>
          </a:p>
        </p:txBody>
      </p:sp>
      <p:pic>
        <p:nvPicPr>
          <p:cNvPr id="7" name="Image 1" descr="preencoded.png"/>
          <p:cNvPicPr>
            <a:picLocks noChangeAspect="1"/>
          </p:cNvPicPr>
          <p:nvPr/>
        </p:nvPicPr>
        <p:blipFill>
          <a:blip r:embed="rId4"/>
          <a:stretch>
            <a:fillRect/>
          </a:stretch>
        </p:blipFill>
        <p:spPr>
          <a:xfrm>
            <a:off x="2121408" y="1837944"/>
            <a:ext cx="164592" cy="164592"/>
          </a:xfrm>
          <a:prstGeom prst="rect">
            <a:avLst/>
          </a:prstGeom>
        </p:spPr>
      </p:pic>
      <p:sp>
        <p:nvSpPr>
          <p:cNvPr id="8" name="Shape 4"/>
          <p:cNvSpPr/>
          <p:nvPr/>
        </p:nvSpPr>
        <p:spPr>
          <a:xfrm>
            <a:off x="2304288" y="1371600"/>
            <a:ext cx="1371600" cy="1097280"/>
          </a:xfrm>
          <a:prstGeom prst="rect">
            <a:avLst/>
          </a:prstGeom>
          <a:solidFill>
            <a:srgbClr val="162540"/>
          </a:solidFill>
          <a:ln w="12700">
            <a:solidFill>
              <a:srgbClr val="0891B2"/>
            </a:solidFill>
            <a:prstDash val="solid"/>
          </a:ln>
        </p:spPr>
        <p:txBody>
          <a:bodyPr/>
          <a:lstStyle/>
          <a:p>
            <a:endParaRPr lang="en-US"/>
          </a:p>
        </p:txBody>
      </p:sp>
      <p:pic>
        <p:nvPicPr>
          <p:cNvPr id="9" name="Image 2" descr="preencoded.png"/>
          <p:cNvPicPr>
            <a:picLocks noChangeAspect="1"/>
          </p:cNvPicPr>
          <p:nvPr/>
        </p:nvPicPr>
        <p:blipFill>
          <a:blip r:embed="rId5"/>
          <a:stretch>
            <a:fillRect/>
          </a:stretch>
        </p:blipFill>
        <p:spPr>
          <a:xfrm>
            <a:off x="2852928" y="1508760"/>
            <a:ext cx="274320" cy="274320"/>
          </a:xfrm>
          <a:prstGeom prst="rect">
            <a:avLst/>
          </a:prstGeom>
        </p:spPr>
      </p:pic>
      <p:sp>
        <p:nvSpPr>
          <p:cNvPr id="10" name="Text 5"/>
          <p:cNvSpPr/>
          <p:nvPr/>
        </p:nvSpPr>
        <p:spPr>
          <a:xfrm>
            <a:off x="2304288" y="1828800"/>
            <a:ext cx="1371600" cy="548640"/>
          </a:xfrm>
          <a:prstGeom prst="rect">
            <a:avLst/>
          </a:prstGeom>
          <a:noFill/>
          <a:ln/>
        </p:spPr>
        <p:txBody>
          <a:bodyPr wrap="square" lIns="0" tIns="0" rIns="0" bIns="0" rtlCol="0" anchor="ctr"/>
          <a:lstStyle/>
          <a:p>
            <a:pPr marL="0" indent="0" algn="ctr">
              <a:lnSpc>
                <a:spcPct val="120000"/>
              </a:lnSpc>
              <a:buNone/>
            </a:pPr>
            <a:r>
              <a:rPr lang="en-US" sz="1000" dirty="0">
                <a:solidFill>
                  <a:srgbClr val="FFFFFF"/>
                </a:solidFill>
                <a:latin typeface="Calibri" pitchFamily="34" charset="0"/>
                <a:ea typeface="Calibri" pitchFamily="34" charset="-122"/>
                <a:cs typeface="Calibri" pitchFamily="34" charset="-120"/>
              </a:rPr>
              <a:t>Strip &amp;</a:t>
            </a:r>
            <a:endParaRPr lang="en-US" sz="1000" dirty="0"/>
          </a:p>
          <a:p>
            <a:pPr marL="0" indent="0" algn="ctr">
              <a:lnSpc>
                <a:spcPct val="120000"/>
              </a:lnSpc>
              <a:buNone/>
            </a:pPr>
            <a:r>
              <a:rPr lang="en-US" sz="1000" dirty="0">
                <a:solidFill>
                  <a:srgbClr val="FFFFFF"/>
                </a:solidFill>
                <a:latin typeface="Calibri" pitchFamily="34" charset="0"/>
                <a:ea typeface="Calibri" pitchFamily="34" charset="-122"/>
                <a:cs typeface="Calibri" pitchFamily="34" charset="-120"/>
              </a:rPr>
              <a:t>Normalize</a:t>
            </a:r>
            <a:endParaRPr lang="en-US" sz="1000" dirty="0"/>
          </a:p>
        </p:txBody>
      </p:sp>
      <p:pic>
        <p:nvPicPr>
          <p:cNvPr id="11" name="Image 3" descr="preencoded.png"/>
          <p:cNvPicPr>
            <a:picLocks noChangeAspect="1"/>
          </p:cNvPicPr>
          <p:nvPr/>
        </p:nvPicPr>
        <p:blipFill>
          <a:blip r:embed="rId4"/>
          <a:stretch>
            <a:fillRect/>
          </a:stretch>
        </p:blipFill>
        <p:spPr>
          <a:xfrm>
            <a:off x="3694176" y="1837944"/>
            <a:ext cx="164592" cy="164592"/>
          </a:xfrm>
          <a:prstGeom prst="rect">
            <a:avLst/>
          </a:prstGeom>
        </p:spPr>
      </p:pic>
      <p:sp>
        <p:nvSpPr>
          <p:cNvPr id="12" name="Shape 6"/>
          <p:cNvSpPr/>
          <p:nvPr/>
        </p:nvSpPr>
        <p:spPr>
          <a:xfrm>
            <a:off x="3877056" y="1371600"/>
            <a:ext cx="1371600" cy="1097280"/>
          </a:xfrm>
          <a:prstGeom prst="rect">
            <a:avLst/>
          </a:prstGeom>
          <a:solidFill>
            <a:srgbClr val="162540"/>
          </a:solidFill>
          <a:ln w="12700">
            <a:solidFill>
              <a:srgbClr val="0891B2"/>
            </a:solidFill>
            <a:prstDash val="solid"/>
          </a:ln>
        </p:spPr>
        <p:txBody>
          <a:bodyPr/>
          <a:lstStyle/>
          <a:p>
            <a:endParaRPr lang="en-US"/>
          </a:p>
        </p:txBody>
      </p:sp>
      <p:pic>
        <p:nvPicPr>
          <p:cNvPr id="13" name="Image 4" descr="preencoded.png"/>
          <p:cNvPicPr>
            <a:picLocks noChangeAspect="1"/>
          </p:cNvPicPr>
          <p:nvPr/>
        </p:nvPicPr>
        <p:blipFill>
          <a:blip r:embed="rId6"/>
          <a:stretch>
            <a:fillRect/>
          </a:stretch>
        </p:blipFill>
        <p:spPr>
          <a:xfrm>
            <a:off x="4425696" y="1508760"/>
            <a:ext cx="274320" cy="274320"/>
          </a:xfrm>
          <a:prstGeom prst="rect">
            <a:avLst/>
          </a:prstGeom>
        </p:spPr>
      </p:pic>
      <p:sp>
        <p:nvSpPr>
          <p:cNvPr id="14" name="Text 7"/>
          <p:cNvSpPr/>
          <p:nvPr/>
        </p:nvSpPr>
        <p:spPr>
          <a:xfrm>
            <a:off x="3877056" y="1828800"/>
            <a:ext cx="1371600" cy="548640"/>
          </a:xfrm>
          <a:prstGeom prst="rect">
            <a:avLst/>
          </a:prstGeom>
          <a:noFill/>
          <a:ln/>
        </p:spPr>
        <p:txBody>
          <a:bodyPr wrap="square" lIns="0" tIns="0" rIns="0" bIns="0" rtlCol="0" anchor="ctr"/>
          <a:lstStyle/>
          <a:p>
            <a:pPr marL="0" indent="0" algn="ctr">
              <a:lnSpc>
                <a:spcPct val="120000"/>
              </a:lnSpc>
              <a:buNone/>
            </a:pPr>
            <a:r>
              <a:rPr lang="en-US" sz="1000" dirty="0">
                <a:solidFill>
                  <a:srgbClr val="FFFFFF"/>
                </a:solidFill>
                <a:latin typeface="Calibri" pitchFamily="34" charset="0"/>
                <a:ea typeface="Calibri" pitchFamily="34" charset="-122"/>
                <a:cs typeface="Calibri" pitchFamily="34" charset="-120"/>
              </a:rPr>
              <a:t>Chunk by</a:t>
            </a:r>
            <a:endParaRPr lang="en-US" sz="1000" dirty="0"/>
          </a:p>
          <a:p>
            <a:pPr marL="0" indent="0" algn="ctr">
              <a:lnSpc>
                <a:spcPct val="120000"/>
              </a:lnSpc>
              <a:buNone/>
            </a:pPr>
            <a:r>
              <a:rPr lang="en-US" sz="1000" dirty="0">
                <a:solidFill>
                  <a:srgbClr val="FFFFFF"/>
                </a:solidFill>
                <a:latin typeface="Calibri" pitchFamily="34" charset="0"/>
                <a:ea typeface="Calibri" pitchFamily="34" charset="-122"/>
                <a:cs typeface="Calibri" pitchFamily="34" charset="-120"/>
              </a:rPr>
              <a:t>Token Count</a:t>
            </a:r>
            <a:endParaRPr lang="en-US" sz="1000" dirty="0"/>
          </a:p>
        </p:txBody>
      </p:sp>
      <p:pic>
        <p:nvPicPr>
          <p:cNvPr id="15" name="Image 5" descr="preencoded.png"/>
          <p:cNvPicPr>
            <a:picLocks noChangeAspect="1"/>
          </p:cNvPicPr>
          <p:nvPr/>
        </p:nvPicPr>
        <p:blipFill>
          <a:blip r:embed="rId4"/>
          <a:stretch>
            <a:fillRect/>
          </a:stretch>
        </p:blipFill>
        <p:spPr>
          <a:xfrm>
            <a:off x="5266944" y="1837944"/>
            <a:ext cx="164592" cy="164592"/>
          </a:xfrm>
          <a:prstGeom prst="rect">
            <a:avLst/>
          </a:prstGeom>
        </p:spPr>
      </p:pic>
      <p:sp>
        <p:nvSpPr>
          <p:cNvPr id="16" name="Shape 8"/>
          <p:cNvSpPr/>
          <p:nvPr/>
        </p:nvSpPr>
        <p:spPr>
          <a:xfrm>
            <a:off x="5449824" y="1371600"/>
            <a:ext cx="1371600" cy="1097280"/>
          </a:xfrm>
          <a:prstGeom prst="rect">
            <a:avLst/>
          </a:prstGeom>
          <a:solidFill>
            <a:srgbClr val="162540"/>
          </a:solidFill>
          <a:ln w="12700">
            <a:solidFill>
              <a:srgbClr val="0891B2"/>
            </a:solidFill>
            <a:prstDash val="solid"/>
          </a:ln>
        </p:spPr>
        <p:txBody>
          <a:bodyPr/>
          <a:lstStyle/>
          <a:p>
            <a:endParaRPr lang="en-US"/>
          </a:p>
        </p:txBody>
      </p:sp>
      <p:pic>
        <p:nvPicPr>
          <p:cNvPr id="17" name="Image 6" descr="preencoded.png"/>
          <p:cNvPicPr>
            <a:picLocks noChangeAspect="1"/>
          </p:cNvPicPr>
          <p:nvPr/>
        </p:nvPicPr>
        <p:blipFill>
          <a:blip r:embed="rId7"/>
          <a:stretch>
            <a:fillRect/>
          </a:stretch>
        </p:blipFill>
        <p:spPr>
          <a:xfrm>
            <a:off x="5998464" y="1508760"/>
            <a:ext cx="274320" cy="274320"/>
          </a:xfrm>
          <a:prstGeom prst="rect">
            <a:avLst/>
          </a:prstGeom>
        </p:spPr>
      </p:pic>
      <p:sp>
        <p:nvSpPr>
          <p:cNvPr id="18" name="Text 9"/>
          <p:cNvSpPr/>
          <p:nvPr/>
        </p:nvSpPr>
        <p:spPr>
          <a:xfrm>
            <a:off x="5449824" y="1828800"/>
            <a:ext cx="1371600" cy="548640"/>
          </a:xfrm>
          <a:prstGeom prst="rect">
            <a:avLst/>
          </a:prstGeom>
          <a:noFill/>
          <a:ln/>
        </p:spPr>
        <p:txBody>
          <a:bodyPr wrap="square" lIns="0" tIns="0" rIns="0" bIns="0" rtlCol="0" anchor="ctr"/>
          <a:lstStyle/>
          <a:p>
            <a:pPr marL="0" indent="0" algn="ctr">
              <a:lnSpc>
                <a:spcPct val="120000"/>
              </a:lnSpc>
              <a:buNone/>
            </a:pPr>
            <a:r>
              <a:rPr lang="en-US" sz="1000" dirty="0">
                <a:solidFill>
                  <a:srgbClr val="FFFFFF"/>
                </a:solidFill>
                <a:latin typeface="Calibri" pitchFamily="34" charset="0"/>
                <a:ea typeface="Calibri" pitchFamily="34" charset="-122"/>
                <a:cs typeface="Calibri" pitchFamily="34" charset="-120"/>
              </a:rPr>
              <a:t>BM25</a:t>
            </a:r>
            <a:endParaRPr lang="en-US" sz="1000" dirty="0"/>
          </a:p>
          <a:p>
            <a:pPr marL="0" indent="0" algn="ctr">
              <a:lnSpc>
                <a:spcPct val="120000"/>
              </a:lnSpc>
              <a:buNone/>
            </a:pPr>
            <a:r>
              <a:rPr lang="en-US" sz="1000" dirty="0">
                <a:solidFill>
                  <a:srgbClr val="FFFFFF"/>
                </a:solidFill>
                <a:latin typeface="Calibri" pitchFamily="34" charset="0"/>
                <a:ea typeface="Calibri" pitchFamily="34" charset="-122"/>
                <a:cs typeface="Calibri" pitchFamily="34" charset="-120"/>
              </a:rPr>
              <a:t>Index</a:t>
            </a:r>
            <a:endParaRPr lang="en-US" sz="1000" dirty="0"/>
          </a:p>
        </p:txBody>
      </p:sp>
      <p:pic>
        <p:nvPicPr>
          <p:cNvPr id="19" name="Image 7" descr="preencoded.png"/>
          <p:cNvPicPr>
            <a:picLocks noChangeAspect="1"/>
          </p:cNvPicPr>
          <p:nvPr/>
        </p:nvPicPr>
        <p:blipFill>
          <a:blip r:embed="rId4"/>
          <a:stretch>
            <a:fillRect/>
          </a:stretch>
        </p:blipFill>
        <p:spPr>
          <a:xfrm>
            <a:off x="6839712" y="1837944"/>
            <a:ext cx="164592" cy="164592"/>
          </a:xfrm>
          <a:prstGeom prst="rect">
            <a:avLst/>
          </a:prstGeom>
        </p:spPr>
      </p:pic>
      <p:sp>
        <p:nvSpPr>
          <p:cNvPr id="20" name="Shape 10"/>
          <p:cNvSpPr/>
          <p:nvPr/>
        </p:nvSpPr>
        <p:spPr>
          <a:xfrm>
            <a:off x="7022592" y="1371600"/>
            <a:ext cx="1371600" cy="1097280"/>
          </a:xfrm>
          <a:prstGeom prst="rect">
            <a:avLst/>
          </a:prstGeom>
          <a:solidFill>
            <a:srgbClr val="162540"/>
          </a:solidFill>
          <a:ln w="12700">
            <a:solidFill>
              <a:srgbClr val="0891B2"/>
            </a:solidFill>
            <a:prstDash val="solid"/>
          </a:ln>
        </p:spPr>
        <p:txBody>
          <a:bodyPr/>
          <a:lstStyle/>
          <a:p>
            <a:endParaRPr lang="en-US"/>
          </a:p>
        </p:txBody>
      </p:sp>
      <p:pic>
        <p:nvPicPr>
          <p:cNvPr id="21" name="Image 8" descr="preencoded.png"/>
          <p:cNvPicPr>
            <a:picLocks noChangeAspect="1"/>
          </p:cNvPicPr>
          <p:nvPr/>
        </p:nvPicPr>
        <p:blipFill>
          <a:blip r:embed="rId6"/>
          <a:stretch>
            <a:fillRect/>
          </a:stretch>
        </p:blipFill>
        <p:spPr>
          <a:xfrm>
            <a:off x="7571232" y="1508760"/>
            <a:ext cx="274320" cy="274320"/>
          </a:xfrm>
          <a:prstGeom prst="rect">
            <a:avLst/>
          </a:prstGeom>
        </p:spPr>
      </p:pic>
      <p:sp>
        <p:nvSpPr>
          <p:cNvPr id="22" name="Text 11"/>
          <p:cNvSpPr/>
          <p:nvPr/>
        </p:nvSpPr>
        <p:spPr>
          <a:xfrm>
            <a:off x="7022592" y="1828800"/>
            <a:ext cx="1371600" cy="548640"/>
          </a:xfrm>
          <a:prstGeom prst="rect">
            <a:avLst/>
          </a:prstGeom>
          <a:noFill/>
          <a:ln/>
        </p:spPr>
        <p:txBody>
          <a:bodyPr wrap="square" lIns="0" tIns="0" rIns="0" bIns="0" rtlCol="0" anchor="ctr"/>
          <a:lstStyle/>
          <a:p>
            <a:pPr marL="0" indent="0" algn="ctr">
              <a:lnSpc>
                <a:spcPct val="120000"/>
              </a:lnSpc>
              <a:buNone/>
            </a:pPr>
            <a:r>
              <a:rPr lang="en-US" sz="1000" dirty="0">
                <a:solidFill>
                  <a:srgbClr val="FFFFFF"/>
                </a:solidFill>
                <a:latin typeface="Calibri" pitchFamily="34" charset="0"/>
                <a:ea typeface="Calibri" pitchFamily="34" charset="-122"/>
                <a:cs typeface="Calibri" pitchFamily="34" charset="-120"/>
              </a:rPr>
              <a:t>Taxonomy</a:t>
            </a:r>
            <a:endParaRPr lang="en-US" sz="1000" dirty="0"/>
          </a:p>
          <a:p>
            <a:pPr marL="0" indent="0" algn="ctr">
              <a:lnSpc>
                <a:spcPct val="120000"/>
              </a:lnSpc>
              <a:buNone/>
            </a:pPr>
            <a:r>
              <a:rPr lang="en-US" sz="1000" dirty="0">
                <a:solidFill>
                  <a:srgbClr val="FFFFFF"/>
                </a:solidFill>
                <a:latin typeface="Calibri" pitchFamily="34" charset="0"/>
                <a:ea typeface="Calibri" pitchFamily="34" charset="-122"/>
                <a:cs typeface="Calibri" pitchFamily="34" charset="-120"/>
              </a:rPr>
              <a:t>Extraction</a:t>
            </a:r>
            <a:endParaRPr lang="en-US" sz="1000" dirty="0"/>
          </a:p>
        </p:txBody>
      </p:sp>
      <p:sp>
        <p:nvSpPr>
          <p:cNvPr id="23" name="Shape 12"/>
          <p:cNvSpPr/>
          <p:nvPr/>
        </p:nvSpPr>
        <p:spPr>
          <a:xfrm>
            <a:off x="731520" y="2724526"/>
            <a:ext cx="7680960" cy="0"/>
          </a:xfrm>
          <a:prstGeom prst="line">
            <a:avLst/>
          </a:prstGeom>
          <a:noFill/>
          <a:ln w="12700">
            <a:solidFill>
              <a:srgbClr val="0891B2"/>
            </a:solidFill>
            <a:prstDash val="dash"/>
          </a:ln>
        </p:spPr>
        <p:txBody>
          <a:bodyPr/>
          <a:lstStyle/>
          <a:p>
            <a:endParaRPr lang="en-US"/>
          </a:p>
        </p:txBody>
      </p:sp>
      <p:sp>
        <p:nvSpPr>
          <p:cNvPr id="24" name="Text 13"/>
          <p:cNvSpPr/>
          <p:nvPr/>
        </p:nvSpPr>
        <p:spPr>
          <a:xfrm>
            <a:off x="731520" y="2880360"/>
            <a:ext cx="2743200" cy="274320"/>
          </a:xfrm>
          <a:prstGeom prst="rect">
            <a:avLst/>
          </a:prstGeom>
          <a:noFill/>
          <a:ln/>
        </p:spPr>
        <p:txBody>
          <a:bodyPr wrap="square" lIns="0" tIns="0" rIns="0" bIns="0" rtlCol="0" anchor="ctr"/>
          <a:lstStyle/>
          <a:p>
            <a:pPr marL="0" indent="0">
              <a:buNone/>
            </a:pPr>
            <a:r>
              <a:rPr lang="en-US" sz="1000" b="1" kern="0" spc="300" dirty="0">
                <a:solidFill>
                  <a:srgbClr val="0891B2"/>
                </a:solidFill>
                <a:latin typeface="Trebuchet MS" pitchFamily="34" charset="0"/>
                <a:ea typeface="Trebuchet MS" pitchFamily="34" charset="-122"/>
                <a:cs typeface="Trebuchet MS" pitchFamily="34" charset="-120"/>
              </a:rPr>
              <a:t>COMPILED OUTPUT</a:t>
            </a:r>
            <a:endParaRPr lang="en-US" sz="1000" dirty="0"/>
          </a:p>
        </p:txBody>
      </p:sp>
      <p:sp>
        <p:nvSpPr>
          <p:cNvPr id="25" name="Shape 14"/>
          <p:cNvSpPr/>
          <p:nvPr/>
        </p:nvSpPr>
        <p:spPr>
          <a:xfrm>
            <a:off x="731520" y="3291840"/>
            <a:ext cx="2377440" cy="822960"/>
          </a:xfrm>
          <a:prstGeom prst="rect">
            <a:avLst/>
          </a:prstGeom>
          <a:solidFill>
            <a:srgbClr val="0891B2"/>
          </a:solidFill>
          <a:ln/>
        </p:spPr>
        <p:txBody>
          <a:bodyPr/>
          <a:lstStyle/>
          <a:p>
            <a:r>
              <a:rPr lang="en-US" sz="1600" b="1" dirty="0">
                <a:solidFill>
                  <a:srgbClr val="09D0FF"/>
                </a:solidFill>
              </a:rPr>
              <a:t>Object Instructions</a:t>
            </a:r>
          </a:p>
        </p:txBody>
      </p:sp>
      <p:sp>
        <p:nvSpPr>
          <p:cNvPr id="28" name="Shape 17"/>
          <p:cNvSpPr/>
          <p:nvPr/>
        </p:nvSpPr>
        <p:spPr>
          <a:xfrm>
            <a:off x="3383280" y="3291840"/>
            <a:ext cx="2377440" cy="822960"/>
          </a:xfrm>
          <a:prstGeom prst="rect">
            <a:avLst/>
          </a:prstGeom>
          <a:solidFill>
            <a:srgbClr val="0D9488"/>
          </a:solidFill>
          <a:ln/>
        </p:spPr>
        <p:txBody>
          <a:bodyPr/>
          <a:lstStyle/>
          <a:p>
            <a:r>
              <a:rPr lang="en-US" sz="1600" b="1" dirty="0">
                <a:solidFill>
                  <a:srgbClr val="13E6D5"/>
                </a:solidFill>
              </a:rPr>
              <a:t>Specs Reasoning</a:t>
            </a:r>
          </a:p>
        </p:txBody>
      </p:sp>
      <p:sp>
        <p:nvSpPr>
          <p:cNvPr id="31" name="Shape 20"/>
          <p:cNvSpPr/>
          <p:nvPr/>
        </p:nvSpPr>
        <p:spPr>
          <a:xfrm>
            <a:off x="6035040" y="3291840"/>
            <a:ext cx="2359152" cy="822960"/>
          </a:xfrm>
          <a:prstGeom prst="rect">
            <a:avLst/>
          </a:prstGeom>
          <a:solidFill>
            <a:srgbClr val="047857"/>
          </a:solidFill>
          <a:ln/>
        </p:spPr>
        <p:txBody>
          <a:bodyPr/>
          <a:lstStyle/>
          <a:p>
            <a:r>
              <a:rPr lang="en-US" sz="1600" b="1" dirty="0">
                <a:solidFill>
                  <a:srgbClr val="05DFA2"/>
                </a:solidFill>
              </a:rPr>
              <a:t>System Compiler Docs</a:t>
            </a:r>
          </a:p>
        </p:txBody>
      </p:sp>
      <p:sp>
        <p:nvSpPr>
          <p:cNvPr id="33" name="Text 22"/>
          <p:cNvSpPr/>
          <p:nvPr/>
        </p:nvSpPr>
        <p:spPr>
          <a:xfrm>
            <a:off x="6135624" y="3833877"/>
            <a:ext cx="538981" cy="233432"/>
          </a:xfrm>
          <a:prstGeom prst="rect">
            <a:avLst/>
          </a:prstGeom>
          <a:noFill/>
          <a:ln/>
        </p:spPr>
        <p:txBody>
          <a:bodyPr wrap="square" lIns="0" tIns="0" rIns="0" bIns="0" rtlCol="0" anchor="ctr"/>
          <a:lstStyle/>
          <a:p>
            <a:pPr marL="0" indent="0">
              <a:buNone/>
            </a:pPr>
            <a:r>
              <a:rPr lang="en-US" sz="1100" dirty="0">
                <a:solidFill>
                  <a:schemeClr val="bg1"/>
                </a:solidFill>
                <a:latin typeface="Consolas" pitchFamily="34" charset="0"/>
                <a:ea typeface="Consolas" pitchFamily="34" charset="-122"/>
                <a:cs typeface="Consolas" pitchFamily="34" charset="-120"/>
              </a:rPr>
              <a:t>sys:</a:t>
            </a:r>
            <a:endParaRPr lang="en-US" sz="1100" dirty="0">
              <a:solidFill>
                <a:schemeClr val="bg1"/>
              </a:solidFill>
            </a:endParaRPr>
          </a:p>
        </p:txBody>
      </p:sp>
      <p:sp>
        <p:nvSpPr>
          <p:cNvPr id="34" name="Text 23"/>
          <p:cNvSpPr/>
          <p:nvPr/>
        </p:nvSpPr>
        <p:spPr>
          <a:xfrm>
            <a:off x="457200" y="4297680"/>
            <a:ext cx="8229600" cy="32004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Each type gets its own BM25 index — three separate search scopes, independent scoring</a:t>
            </a:r>
            <a:endParaRPr lang="en-US" sz="1100" dirty="0"/>
          </a:p>
        </p:txBody>
      </p:sp>
      <p:sp>
        <p:nvSpPr>
          <p:cNvPr id="35" name="Text 22">
            <a:extLst>
              <a:ext uri="{FF2B5EF4-FFF2-40B4-BE49-F238E27FC236}">
                <a16:creationId xmlns:a16="http://schemas.microsoft.com/office/drawing/2014/main" id="{CF3980AB-1A15-9936-675B-3946C9CB30B3}"/>
              </a:ext>
            </a:extLst>
          </p:cNvPr>
          <p:cNvSpPr/>
          <p:nvPr/>
        </p:nvSpPr>
        <p:spPr>
          <a:xfrm>
            <a:off x="3474720" y="3835648"/>
            <a:ext cx="538981" cy="233432"/>
          </a:xfrm>
          <a:prstGeom prst="rect">
            <a:avLst/>
          </a:prstGeom>
          <a:noFill/>
          <a:ln/>
        </p:spPr>
        <p:txBody>
          <a:bodyPr wrap="square" lIns="0" tIns="0" rIns="0" bIns="0" rtlCol="0" anchor="ctr"/>
          <a:lstStyle/>
          <a:p>
            <a:pPr marL="0" indent="0">
              <a:buNone/>
            </a:pPr>
            <a:r>
              <a:rPr lang="en-US" sz="1100" dirty="0">
                <a:solidFill>
                  <a:schemeClr val="bg1"/>
                </a:solidFill>
                <a:latin typeface="Consolas" pitchFamily="34" charset="0"/>
                <a:ea typeface="Consolas" pitchFamily="34" charset="-122"/>
                <a:cs typeface="Consolas" pitchFamily="34" charset="-120"/>
              </a:rPr>
              <a:t>spec:</a:t>
            </a:r>
            <a:endParaRPr lang="en-US" sz="1100" dirty="0">
              <a:solidFill>
                <a:schemeClr val="bg1"/>
              </a:solidFill>
            </a:endParaRPr>
          </a:p>
        </p:txBody>
      </p:sp>
      <p:sp>
        <p:nvSpPr>
          <p:cNvPr id="36" name="Text 22">
            <a:extLst>
              <a:ext uri="{FF2B5EF4-FFF2-40B4-BE49-F238E27FC236}">
                <a16:creationId xmlns:a16="http://schemas.microsoft.com/office/drawing/2014/main" id="{4B7A7F3E-0C06-8118-FCDF-5AF6AACA30AF}"/>
              </a:ext>
            </a:extLst>
          </p:cNvPr>
          <p:cNvSpPr/>
          <p:nvPr/>
        </p:nvSpPr>
        <p:spPr>
          <a:xfrm>
            <a:off x="841634" y="3837451"/>
            <a:ext cx="538981" cy="233432"/>
          </a:xfrm>
          <a:prstGeom prst="rect">
            <a:avLst/>
          </a:prstGeom>
          <a:noFill/>
          <a:ln/>
        </p:spPr>
        <p:txBody>
          <a:bodyPr wrap="square" lIns="0" tIns="0" rIns="0" bIns="0" rtlCol="0" anchor="ctr"/>
          <a:lstStyle/>
          <a:p>
            <a:pPr marL="0" indent="0">
              <a:buNone/>
            </a:pPr>
            <a:r>
              <a:rPr lang="en-US" sz="1100" dirty="0">
                <a:solidFill>
                  <a:schemeClr val="bg1"/>
                </a:solidFill>
                <a:latin typeface="Consolas" pitchFamily="34" charset="0"/>
                <a:ea typeface="Consolas" pitchFamily="34" charset="-122"/>
                <a:cs typeface="Consolas" pitchFamily="34" charset="-120"/>
              </a:rPr>
              <a:t>obj:</a:t>
            </a:r>
            <a:endParaRPr lang="en-US" sz="110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5">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marL="0" indent="0">
              <a:buNone/>
            </a:pPr>
            <a:r>
              <a:rPr lang="en-US" sz="3000" b="1" dirty="0">
                <a:solidFill>
                  <a:srgbClr val="0F1B2D"/>
                </a:solidFill>
                <a:latin typeface="Trebuchet MS" pitchFamily="34" charset="0"/>
                <a:ea typeface="Trebuchet MS" pitchFamily="34" charset="-122"/>
                <a:cs typeface="Trebuchet MS" pitchFamily="34" charset="-120"/>
              </a:rPr>
              <a:t>How the AI Finds Documentation</a:t>
            </a:r>
            <a:endParaRPr lang="en-US" sz="3000" dirty="0"/>
          </a:p>
        </p:txBody>
      </p:sp>
      <p:sp>
        <p:nvSpPr>
          <p:cNvPr id="3" name="Shape 1"/>
          <p:cNvSpPr/>
          <p:nvPr/>
        </p:nvSpPr>
        <p:spPr>
          <a:xfrm>
            <a:off x="777240" y="1143000"/>
            <a:ext cx="457200" cy="457200"/>
          </a:xfrm>
          <a:prstGeom prst="ellipse">
            <a:avLst/>
          </a:prstGeom>
          <a:solidFill>
            <a:srgbClr val="0891B2"/>
          </a:solidFill>
          <a:ln/>
        </p:spPr>
        <p:txBody>
          <a:bodyPr/>
          <a:lstStyle/>
          <a:p>
            <a:endParaRPr lang="en-US"/>
          </a:p>
        </p:txBody>
      </p:sp>
      <p:sp>
        <p:nvSpPr>
          <p:cNvPr id="4" name="Text 2"/>
          <p:cNvSpPr/>
          <p:nvPr/>
        </p:nvSpPr>
        <p:spPr>
          <a:xfrm>
            <a:off x="777240" y="11430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1</a:t>
            </a:r>
            <a:endParaRPr lang="en-US" sz="1600" dirty="0"/>
          </a:p>
        </p:txBody>
      </p:sp>
      <p:sp>
        <p:nvSpPr>
          <p:cNvPr id="5" name="Shape 3"/>
          <p:cNvSpPr/>
          <p:nvPr/>
        </p:nvSpPr>
        <p:spPr>
          <a:xfrm>
            <a:off x="274320" y="1783080"/>
            <a:ext cx="1554480" cy="1737360"/>
          </a:xfrm>
          <a:prstGeom prst="rect">
            <a:avLst/>
          </a:prstGeom>
          <a:solidFill>
            <a:srgbClr val="FFFFFF"/>
          </a:solidFill>
          <a:ln/>
          <a:effectLst>
            <a:outerShdw blurRad="101600" dist="38100" dir="8100000" algn="bl" rotWithShape="0">
              <a:srgbClr val="000000">
                <a:alpha val="25000"/>
              </a:srgbClr>
            </a:outerShdw>
          </a:effectLst>
        </p:spPr>
        <p:txBody>
          <a:bodyPr/>
          <a:lstStyle/>
          <a:p>
            <a:endParaRPr lang="en-US"/>
          </a:p>
        </p:txBody>
      </p:sp>
      <p:sp>
        <p:nvSpPr>
          <p:cNvPr id="6" name="Text 4"/>
          <p:cNvSpPr/>
          <p:nvPr/>
        </p:nvSpPr>
        <p:spPr>
          <a:xfrm>
            <a:off x="274320" y="1874520"/>
            <a:ext cx="1554480" cy="320040"/>
          </a:xfrm>
          <a:prstGeom prst="rect">
            <a:avLst/>
          </a:prstGeom>
          <a:noFill/>
          <a:ln/>
        </p:spPr>
        <p:txBody>
          <a:bodyPr wrap="square" lIns="0" tIns="0" rIns="0" bIns="0" rtlCol="0" anchor="ctr"/>
          <a:lstStyle/>
          <a:p>
            <a:pPr marL="0" indent="0" algn="ctr">
              <a:buNone/>
            </a:pPr>
            <a:r>
              <a:rPr lang="en-US" sz="1300" b="1" dirty="0">
                <a:solidFill>
                  <a:srgbClr val="0F1B2D"/>
                </a:solidFill>
                <a:latin typeface="Trebuchet MS" pitchFamily="34" charset="0"/>
                <a:ea typeface="Trebuchet MS" pitchFamily="34" charset="-122"/>
                <a:cs typeface="Trebuchet MS" pitchFamily="34" charset="-120"/>
              </a:rPr>
              <a:t>Query</a:t>
            </a:r>
            <a:endParaRPr lang="en-US" sz="1300" dirty="0"/>
          </a:p>
        </p:txBody>
      </p:sp>
      <p:sp>
        <p:nvSpPr>
          <p:cNvPr id="7" name="Text 5"/>
          <p:cNvSpPr/>
          <p:nvPr/>
        </p:nvSpPr>
        <p:spPr>
          <a:xfrm>
            <a:off x="365760" y="2240280"/>
            <a:ext cx="1371600" cy="1097280"/>
          </a:xfrm>
          <a:prstGeom prst="rect">
            <a:avLst/>
          </a:prstGeom>
          <a:noFill/>
          <a:ln/>
        </p:spPr>
        <p:txBody>
          <a:bodyPr wrap="square" lIns="0" tIns="0" rIns="0" bIns="0" rtlCol="0" anchor="ctr"/>
          <a:lstStyle/>
          <a:p>
            <a:pPr marL="0" indent="0" algn="ctr">
              <a:lnSpc>
                <a:spcPct val="135000"/>
              </a:lnSpc>
              <a:buNone/>
            </a:pPr>
            <a:r>
              <a:rPr lang="en-US" sz="1000" dirty="0">
                <a:solidFill>
                  <a:srgbClr val="334155"/>
                </a:solidFill>
                <a:latin typeface="Calibri" pitchFamily="34" charset="0"/>
                <a:ea typeface="Calibri" pitchFamily="34" charset="-122"/>
                <a:cs typeface="Calibri" pitchFamily="34" charset="-120"/>
              </a:rPr>
              <a:t>Developer asks:</a:t>
            </a:r>
            <a:endParaRPr lang="en-US" sz="1000" dirty="0"/>
          </a:p>
          <a:p>
            <a:pPr marL="0" indent="0" algn="ctr">
              <a:lnSpc>
                <a:spcPct val="135000"/>
              </a:lnSpc>
              <a:buNone/>
            </a:pPr>
            <a:r>
              <a:rPr lang="en-US" sz="1000" dirty="0">
                <a:solidFill>
                  <a:srgbClr val="334155"/>
                </a:solidFill>
                <a:latin typeface="Calibri" pitchFamily="34" charset="0"/>
                <a:ea typeface="Calibri" pitchFamily="34" charset="-122"/>
                <a:cs typeface="Calibri" pitchFamily="34" charset="-120"/>
              </a:rPr>
              <a:t>"login failures"</a:t>
            </a:r>
            <a:endParaRPr lang="en-US" sz="1000" dirty="0"/>
          </a:p>
        </p:txBody>
      </p:sp>
      <p:pic>
        <p:nvPicPr>
          <p:cNvPr id="8" name="Image 0" descr="preencoded.png"/>
          <p:cNvPicPr>
            <a:picLocks noChangeAspect="1"/>
          </p:cNvPicPr>
          <p:nvPr/>
        </p:nvPicPr>
        <p:blipFill>
          <a:blip r:embed="rId3"/>
          <a:stretch>
            <a:fillRect/>
          </a:stretch>
        </p:blipFill>
        <p:spPr>
          <a:xfrm>
            <a:off x="1847088" y="2514600"/>
            <a:ext cx="164592" cy="164592"/>
          </a:xfrm>
          <a:prstGeom prst="rect">
            <a:avLst/>
          </a:prstGeom>
        </p:spPr>
      </p:pic>
      <p:sp>
        <p:nvSpPr>
          <p:cNvPr id="9" name="Shape 6"/>
          <p:cNvSpPr/>
          <p:nvPr/>
        </p:nvSpPr>
        <p:spPr>
          <a:xfrm>
            <a:off x="2532888" y="1143000"/>
            <a:ext cx="457200" cy="457200"/>
          </a:xfrm>
          <a:prstGeom prst="ellipse">
            <a:avLst/>
          </a:prstGeom>
          <a:solidFill>
            <a:srgbClr val="0891B2"/>
          </a:solidFill>
          <a:ln/>
        </p:spPr>
        <p:txBody>
          <a:bodyPr/>
          <a:lstStyle/>
          <a:p>
            <a:endParaRPr lang="en-US"/>
          </a:p>
        </p:txBody>
      </p:sp>
      <p:sp>
        <p:nvSpPr>
          <p:cNvPr id="10" name="Text 7"/>
          <p:cNvSpPr/>
          <p:nvPr/>
        </p:nvSpPr>
        <p:spPr>
          <a:xfrm>
            <a:off x="2532888" y="11430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2</a:t>
            </a:r>
            <a:endParaRPr lang="en-US" sz="1600" dirty="0"/>
          </a:p>
        </p:txBody>
      </p:sp>
      <p:sp>
        <p:nvSpPr>
          <p:cNvPr id="11" name="Shape 8"/>
          <p:cNvSpPr/>
          <p:nvPr/>
        </p:nvSpPr>
        <p:spPr>
          <a:xfrm>
            <a:off x="2029968" y="1783080"/>
            <a:ext cx="1554480" cy="1737360"/>
          </a:xfrm>
          <a:prstGeom prst="rect">
            <a:avLst/>
          </a:prstGeom>
          <a:solidFill>
            <a:srgbClr val="FFFFFF"/>
          </a:solidFill>
          <a:ln/>
          <a:effectLst>
            <a:outerShdw blurRad="101600" dist="38100" dir="8100000" algn="bl" rotWithShape="0">
              <a:srgbClr val="000000">
                <a:alpha val="25000"/>
              </a:srgbClr>
            </a:outerShdw>
          </a:effectLst>
        </p:spPr>
        <p:txBody>
          <a:bodyPr/>
          <a:lstStyle/>
          <a:p>
            <a:endParaRPr lang="en-US"/>
          </a:p>
        </p:txBody>
      </p:sp>
      <p:sp>
        <p:nvSpPr>
          <p:cNvPr id="12" name="Text 9"/>
          <p:cNvSpPr/>
          <p:nvPr/>
        </p:nvSpPr>
        <p:spPr>
          <a:xfrm>
            <a:off x="2029968" y="1874520"/>
            <a:ext cx="1554480" cy="320040"/>
          </a:xfrm>
          <a:prstGeom prst="rect">
            <a:avLst/>
          </a:prstGeom>
          <a:noFill/>
          <a:ln/>
        </p:spPr>
        <p:txBody>
          <a:bodyPr wrap="square" lIns="0" tIns="0" rIns="0" bIns="0" rtlCol="0" anchor="ctr"/>
          <a:lstStyle/>
          <a:p>
            <a:pPr marL="0" indent="0" algn="ctr">
              <a:buNone/>
            </a:pPr>
            <a:r>
              <a:rPr lang="en-US" sz="1300" b="1" dirty="0">
                <a:solidFill>
                  <a:srgbClr val="0F1B2D"/>
                </a:solidFill>
                <a:latin typeface="Trebuchet MS" pitchFamily="34" charset="0"/>
                <a:ea typeface="Trebuchet MS" pitchFamily="34" charset="-122"/>
                <a:cs typeface="Trebuchet MS" pitchFamily="34" charset="-120"/>
              </a:rPr>
              <a:t>Translate</a:t>
            </a:r>
            <a:endParaRPr lang="en-US" sz="1300" dirty="0"/>
          </a:p>
        </p:txBody>
      </p:sp>
      <p:sp>
        <p:nvSpPr>
          <p:cNvPr id="13" name="Text 10"/>
          <p:cNvSpPr/>
          <p:nvPr/>
        </p:nvSpPr>
        <p:spPr>
          <a:xfrm>
            <a:off x="2121408" y="2240280"/>
            <a:ext cx="1371600" cy="1097280"/>
          </a:xfrm>
          <a:prstGeom prst="rect">
            <a:avLst/>
          </a:prstGeom>
          <a:noFill/>
          <a:ln/>
        </p:spPr>
        <p:txBody>
          <a:bodyPr wrap="square" lIns="0" tIns="0" rIns="0" bIns="0" rtlCol="0" anchor="ctr"/>
          <a:lstStyle/>
          <a:p>
            <a:pPr marL="0" indent="0" algn="ctr">
              <a:lnSpc>
                <a:spcPct val="135000"/>
              </a:lnSpc>
              <a:buNone/>
            </a:pPr>
            <a:r>
              <a:rPr lang="en-US" sz="1000" dirty="0">
                <a:solidFill>
                  <a:srgbClr val="334155"/>
                </a:solidFill>
                <a:latin typeface="Calibri" pitchFamily="34" charset="0"/>
                <a:ea typeface="Calibri" pitchFamily="34" charset="-122"/>
                <a:cs typeface="Calibri" pitchFamily="34" charset="-120"/>
              </a:rPr>
              <a:t>Taxonomy maps:</a:t>
            </a:r>
            <a:endParaRPr lang="en-US" sz="1000" dirty="0"/>
          </a:p>
          <a:p>
            <a:pPr marL="0" indent="0" algn="ctr">
              <a:lnSpc>
                <a:spcPct val="135000"/>
              </a:lnSpc>
              <a:buNone/>
            </a:pPr>
            <a:r>
              <a:rPr lang="en-US" sz="1000" dirty="0">
                <a:solidFill>
                  <a:srgbClr val="334155"/>
                </a:solidFill>
                <a:latin typeface="Calibri" pitchFamily="34" charset="0"/>
                <a:ea typeface="Calibri" pitchFamily="34" charset="-122"/>
                <a:cs typeface="Calibri" pitchFamily="34" charset="-120"/>
              </a:rPr>
              <a:t>login → auth</a:t>
            </a:r>
            <a:endParaRPr lang="en-US" sz="1000" dirty="0"/>
          </a:p>
          <a:p>
            <a:pPr marL="0" indent="0" algn="ctr">
              <a:lnSpc>
                <a:spcPct val="135000"/>
              </a:lnSpc>
              <a:buNone/>
            </a:pPr>
            <a:r>
              <a:rPr lang="en-US" sz="1000" dirty="0">
                <a:solidFill>
                  <a:srgbClr val="334155"/>
                </a:solidFill>
                <a:latin typeface="Calibri" pitchFamily="34" charset="0"/>
                <a:ea typeface="Calibri" pitchFamily="34" charset="-122"/>
                <a:cs typeface="Calibri" pitchFamily="34" charset="-120"/>
              </a:rPr>
              <a:t>failures → errors</a:t>
            </a:r>
            <a:endParaRPr lang="en-US" sz="1000" dirty="0"/>
          </a:p>
        </p:txBody>
      </p:sp>
      <p:pic>
        <p:nvPicPr>
          <p:cNvPr id="14" name="Image 1" descr="preencoded.png"/>
          <p:cNvPicPr>
            <a:picLocks noChangeAspect="1"/>
          </p:cNvPicPr>
          <p:nvPr/>
        </p:nvPicPr>
        <p:blipFill>
          <a:blip r:embed="rId3"/>
          <a:stretch>
            <a:fillRect/>
          </a:stretch>
        </p:blipFill>
        <p:spPr>
          <a:xfrm>
            <a:off x="3602736" y="2514600"/>
            <a:ext cx="164592" cy="164592"/>
          </a:xfrm>
          <a:prstGeom prst="rect">
            <a:avLst/>
          </a:prstGeom>
        </p:spPr>
      </p:pic>
      <p:sp>
        <p:nvSpPr>
          <p:cNvPr id="15" name="Shape 11"/>
          <p:cNvSpPr/>
          <p:nvPr/>
        </p:nvSpPr>
        <p:spPr>
          <a:xfrm>
            <a:off x="4288536" y="1143000"/>
            <a:ext cx="457200" cy="457200"/>
          </a:xfrm>
          <a:prstGeom prst="ellipse">
            <a:avLst/>
          </a:prstGeom>
          <a:solidFill>
            <a:srgbClr val="0891B2"/>
          </a:solidFill>
          <a:ln/>
        </p:spPr>
        <p:txBody>
          <a:bodyPr/>
          <a:lstStyle/>
          <a:p>
            <a:endParaRPr lang="en-US"/>
          </a:p>
        </p:txBody>
      </p:sp>
      <p:sp>
        <p:nvSpPr>
          <p:cNvPr id="16" name="Text 12"/>
          <p:cNvSpPr/>
          <p:nvPr/>
        </p:nvSpPr>
        <p:spPr>
          <a:xfrm>
            <a:off x="4288536" y="11430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3</a:t>
            </a:r>
            <a:endParaRPr lang="en-US" sz="1600" dirty="0"/>
          </a:p>
        </p:txBody>
      </p:sp>
      <p:sp>
        <p:nvSpPr>
          <p:cNvPr id="17" name="Shape 13"/>
          <p:cNvSpPr/>
          <p:nvPr/>
        </p:nvSpPr>
        <p:spPr>
          <a:xfrm>
            <a:off x="3785616" y="1783080"/>
            <a:ext cx="1554480" cy="1737360"/>
          </a:xfrm>
          <a:prstGeom prst="rect">
            <a:avLst/>
          </a:prstGeom>
          <a:solidFill>
            <a:srgbClr val="FFFFFF"/>
          </a:solidFill>
          <a:ln/>
          <a:effectLst>
            <a:outerShdw blurRad="101600" dist="38100" dir="8100000" algn="bl" rotWithShape="0">
              <a:srgbClr val="000000">
                <a:alpha val="25000"/>
              </a:srgbClr>
            </a:outerShdw>
          </a:effectLst>
        </p:spPr>
        <p:txBody>
          <a:bodyPr/>
          <a:lstStyle/>
          <a:p>
            <a:endParaRPr lang="en-US"/>
          </a:p>
        </p:txBody>
      </p:sp>
      <p:sp>
        <p:nvSpPr>
          <p:cNvPr id="18" name="Text 14"/>
          <p:cNvSpPr/>
          <p:nvPr/>
        </p:nvSpPr>
        <p:spPr>
          <a:xfrm>
            <a:off x="3785616" y="1874520"/>
            <a:ext cx="1554480" cy="320040"/>
          </a:xfrm>
          <a:prstGeom prst="rect">
            <a:avLst/>
          </a:prstGeom>
          <a:noFill/>
          <a:ln/>
        </p:spPr>
        <p:txBody>
          <a:bodyPr wrap="square" lIns="0" tIns="0" rIns="0" bIns="0" rtlCol="0" anchor="ctr"/>
          <a:lstStyle/>
          <a:p>
            <a:pPr marL="0" indent="0" algn="ctr">
              <a:buNone/>
            </a:pPr>
            <a:r>
              <a:rPr lang="en-US" sz="1300" b="1" dirty="0">
                <a:solidFill>
                  <a:srgbClr val="0F1B2D"/>
                </a:solidFill>
                <a:latin typeface="Trebuchet MS" pitchFamily="34" charset="0"/>
                <a:ea typeface="Trebuchet MS" pitchFamily="34" charset="-122"/>
                <a:cs typeface="Trebuchet MS" pitchFamily="34" charset="-120"/>
              </a:rPr>
              <a:t>Search</a:t>
            </a:r>
            <a:endParaRPr lang="en-US" sz="1300" dirty="0"/>
          </a:p>
        </p:txBody>
      </p:sp>
      <p:sp>
        <p:nvSpPr>
          <p:cNvPr id="19" name="Text 15"/>
          <p:cNvSpPr/>
          <p:nvPr/>
        </p:nvSpPr>
        <p:spPr>
          <a:xfrm>
            <a:off x="3877056" y="2240280"/>
            <a:ext cx="1371600" cy="1097280"/>
          </a:xfrm>
          <a:prstGeom prst="rect">
            <a:avLst/>
          </a:prstGeom>
          <a:noFill/>
          <a:ln/>
        </p:spPr>
        <p:txBody>
          <a:bodyPr wrap="square" lIns="0" tIns="0" rIns="0" bIns="0" rtlCol="0" anchor="ctr"/>
          <a:lstStyle/>
          <a:p>
            <a:pPr marL="0" indent="0" algn="ctr">
              <a:lnSpc>
                <a:spcPct val="135000"/>
              </a:lnSpc>
              <a:buNone/>
            </a:pPr>
            <a:r>
              <a:rPr lang="en-US" sz="1000" dirty="0">
                <a:solidFill>
                  <a:srgbClr val="334155"/>
                </a:solidFill>
                <a:latin typeface="Calibri" pitchFamily="34" charset="0"/>
                <a:ea typeface="Calibri" pitchFamily="34" charset="-122"/>
                <a:cs typeface="Calibri" pitchFamily="34" charset="-120"/>
              </a:rPr>
              <a:t>BM25 scores</a:t>
            </a:r>
            <a:endParaRPr lang="en-US" sz="1000" dirty="0"/>
          </a:p>
          <a:p>
            <a:pPr marL="0" indent="0" algn="ctr">
              <a:lnSpc>
                <a:spcPct val="135000"/>
              </a:lnSpc>
              <a:buNone/>
            </a:pPr>
            <a:r>
              <a:rPr lang="en-US" sz="1000" dirty="0">
                <a:solidFill>
                  <a:srgbClr val="334155"/>
                </a:solidFill>
                <a:latin typeface="Calibri" pitchFamily="34" charset="0"/>
                <a:ea typeface="Calibri" pitchFamily="34" charset="-122"/>
                <a:cs typeface="Calibri" pitchFamily="34" charset="-120"/>
              </a:rPr>
              <a:t>across 3 indexes</a:t>
            </a:r>
            <a:endParaRPr lang="en-US" sz="1000" dirty="0"/>
          </a:p>
          <a:p>
            <a:pPr marL="0" indent="0" algn="ctr">
              <a:lnSpc>
                <a:spcPct val="135000"/>
              </a:lnSpc>
              <a:buNone/>
            </a:pPr>
            <a:r>
              <a:rPr lang="en-US" sz="1000" dirty="0">
                <a:solidFill>
                  <a:srgbClr val="334155"/>
                </a:solidFill>
                <a:latin typeface="Calibri" pitchFamily="34" charset="0"/>
                <a:ea typeface="Calibri" pitchFamily="34" charset="-122"/>
                <a:cs typeface="Calibri" pitchFamily="34" charset="-120"/>
              </a:rPr>
              <a:t>(obj/spec/sys)</a:t>
            </a:r>
            <a:endParaRPr lang="en-US" sz="1000" dirty="0"/>
          </a:p>
        </p:txBody>
      </p:sp>
      <p:pic>
        <p:nvPicPr>
          <p:cNvPr id="20" name="Image 2" descr="preencoded.png"/>
          <p:cNvPicPr>
            <a:picLocks noChangeAspect="1"/>
          </p:cNvPicPr>
          <p:nvPr/>
        </p:nvPicPr>
        <p:blipFill>
          <a:blip r:embed="rId3"/>
          <a:stretch>
            <a:fillRect/>
          </a:stretch>
        </p:blipFill>
        <p:spPr>
          <a:xfrm>
            <a:off x="5358384" y="2514600"/>
            <a:ext cx="164592" cy="164592"/>
          </a:xfrm>
          <a:prstGeom prst="rect">
            <a:avLst/>
          </a:prstGeom>
        </p:spPr>
      </p:pic>
      <p:sp>
        <p:nvSpPr>
          <p:cNvPr id="21" name="Shape 16"/>
          <p:cNvSpPr/>
          <p:nvPr/>
        </p:nvSpPr>
        <p:spPr>
          <a:xfrm>
            <a:off x="6044184" y="1143000"/>
            <a:ext cx="457200" cy="457200"/>
          </a:xfrm>
          <a:prstGeom prst="ellipse">
            <a:avLst/>
          </a:prstGeom>
          <a:solidFill>
            <a:srgbClr val="0891B2"/>
          </a:solidFill>
          <a:ln/>
        </p:spPr>
        <p:txBody>
          <a:bodyPr/>
          <a:lstStyle/>
          <a:p>
            <a:endParaRPr lang="en-US"/>
          </a:p>
        </p:txBody>
      </p:sp>
      <p:sp>
        <p:nvSpPr>
          <p:cNvPr id="22" name="Text 17"/>
          <p:cNvSpPr/>
          <p:nvPr/>
        </p:nvSpPr>
        <p:spPr>
          <a:xfrm>
            <a:off x="6044184" y="11430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4</a:t>
            </a:r>
            <a:endParaRPr lang="en-US" sz="1600" dirty="0"/>
          </a:p>
        </p:txBody>
      </p:sp>
      <p:sp>
        <p:nvSpPr>
          <p:cNvPr id="23" name="Shape 18"/>
          <p:cNvSpPr/>
          <p:nvPr/>
        </p:nvSpPr>
        <p:spPr>
          <a:xfrm>
            <a:off x="5541264" y="1783080"/>
            <a:ext cx="1554480" cy="1737360"/>
          </a:xfrm>
          <a:prstGeom prst="rect">
            <a:avLst/>
          </a:prstGeom>
          <a:solidFill>
            <a:srgbClr val="FFFFFF"/>
          </a:solidFill>
          <a:ln/>
          <a:effectLst>
            <a:outerShdw blurRad="101600" dist="38100" dir="8100000" algn="bl" rotWithShape="0">
              <a:srgbClr val="000000">
                <a:alpha val="25000"/>
              </a:srgbClr>
            </a:outerShdw>
          </a:effectLst>
        </p:spPr>
        <p:txBody>
          <a:bodyPr/>
          <a:lstStyle/>
          <a:p>
            <a:endParaRPr lang="en-US"/>
          </a:p>
        </p:txBody>
      </p:sp>
      <p:sp>
        <p:nvSpPr>
          <p:cNvPr id="24" name="Text 19"/>
          <p:cNvSpPr/>
          <p:nvPr/>
        </p:nvSpPr>
        <p:spPr>
          <a:xfrm>
            <a:off x="5541264" y="1874520"/>
            <a:ext cx="1554480" cy="320040"/>
          </a:xfrm>
          <a:prstGeom prst="rect">
            <a:avLst/>
          </a:prstGeom>
          <a:noFill/>
          <a:ln/>
        </p:spPr>
        <p:txBody>
          <a:bodyPr wrap="square" lIns="0" tIns="0" rIns="0" bIns="0" rtlCol="0" anchor="ctr"/>
          <a:lstStyle/>
          <a:p>
            <a:pPr marL="0" indent="0" algn="ctr">
              <a:buNone/>
            </a:pPr>
            <a:r>
              <a:rPr lang="en-US" sz="1300" b="1" dirty="0">
                <a:solidFill>
                  <a:srgbClr val="0F1B2D"/>
                </a:solidFill>
                <a:latin typeface="Trebuchet MS" pitchFamily="34" charset="0"/>
                <a:ea typeface="Trebuchet MS" pitchFamily="34" charset="-122"/>
                <a:cs typeface="Trebuchet MS" pitchFamily="34" charset="-120"/>
              </a:rPr>
              <a:t>Rank</a:t>
            </a:r>
            <a:endParaRPr lang="en-US" sz="1300" dirty="0"/>
          </a:p>
        </p:txBody>
      </p:sp>
      <p:sp>
        <p:nvSpPr>
          <p:cNvPr id="25" name="Text 20"/>
          <p:cNvSpPr/>
          <p:nvPr/>
        </p:nvSpPr>
        <p:spPr>
          <a:xfrm>
            <a:off x="5632704" y="2240280"/>
            <a:ext cx="1371600" cy="1097280"/>
          </a:xfrm>
          <a:prstGeom prst="rect">
            <a:avLst/>
          </a:prstGeom>
          <a:noFill/>
          <a:ln/>
        </p:spPr>
        <p:txBody>
          <a:bodyPr wrap="square" lIns="0" tIns="0" rIns="0" bIns="0" rtlCol="0" anchor="ctr"/>
          <a:lstStyle/>
          <a:p>
            <a:pPr marL="0" indent="0" algn="ctr">
              <a:lnSpc>
                <a:spcPct val="135000"/>
              </a:lnSpc>
              <a:buNone/>
            </a:pPr>
            <a:r>
              <a:rPr lang="en-US" sz="1000" dirty="0">
                <a:solidFill>
                  <a:srgbClr val="334155"/>
                </a:solidFill>
                <a:latin typeface="Calibri" pitchFamily="34" charset="0"/>
                <a:ea typeface="Calibri" pitchFamily="34" charset="-122"/>
                <a:cs typeface="Calibri" pitchFamily="34" charset="-120"/>
              </a:rPr>
              <a:t>Top results</a:t>
            </a:r>
            <a:endParaRPr lang="en-US" sz="1000" dirty="0"/>
          </a:p>
          <a:p>
            <a:pPr marL="0" indent="0" algn="ctr">
              <a:lnSpc>
                <a:spcPct val="135000"/>
              </a:lnSpc>
              <a:buNone/>
            </a:pPr>
            <a:r>
              <a:rPr lang="en-US" sz="1000" dirty="0">
                <a:solidFill>
                  <a:srgbClr val="334155"/>
                </a:solidFill>
                <a:latin typeface="Calibri" pitchFamily="34" charset="0"/>
                <a:ea typeface="Calibri" pitchFamily="34" charset="-122"/>
                <a:cs typeface="Calibri" pitchFamily="34" charset="-120"/>
              </a:rPr>
              <a:t>with scores</a:t>
            </a:r>
            <a:endParaRPr lang="en-US" sz="1000" dirty="0"/>
          </a:p>
          <a:p>
            <a:pPr marL="0" indent="0" algn="ctr">
              <a:lnSpc>
                <a:spcPct val="135000"/>
              </a:lnSpc>
              <a:buNone/>
            </a:pPr>
            <a:r>
              <a:rPr lang="en-US" sz="1000" dirty="0">
                <a:solidFill>
                  <a:srgbClr val="334155"/>
                </a:solidFill>
                <a:latin typeface="Calibri" pitchFamily="34" charset="0"/>
                <a:ea typeface="Calibri" pitchFamily="34" charset="-122"/>
                <a:cs typeface="Calibri" pitchFamily="34" charset="-120"/>
              </a:rPr>
              <a:t>and token costs</a:t>
            </a:r>
            <a:endParaRPr lang="en-US" sz="1000" dirty="0"/>
          </a:p>
        </p:txBody>
      </p:sp>
      <p:pic>
        <p:nvPicPr>
          <p:cNvPr id="26" name="Image 3" descr="preencoded.png"/>
          <p:cNvPicPr>
            <a:picLocks noChangeAspect="1"/>
          </p:cNvPicPr>
          <p:nvPr/>
        </p:nvPicPr>
        <p:blipFill>
          <a:blip r:embed="rId3"/>
          <a:stretch>
            <a:fillRect/>
          </a:stretch>
        </p:blipFill>
        <p:spPr>
          <a:xfrm>
            <a:off x="7114032" y="2514600"/>
            <a:ext cx="164592" cy="164592"/>
          </a:xfrm>
          <a:prstGeom prst="rect">
            <a:avLst/>
          </a:prstGeom>
        </p:spPr>
      </p:pic>
      <p:sp>
        <p:nvSpPr>
          <p:cNvPr id="27" name="Shape 21"/>
          <p:cNvSpPr/>
          <p:nvPr/>
        </p:nvSpPr>
        <p:spPr>
          <a:xfrm>
            <a:off x="7799832" y="1143000"/>
            <a:ext cx="457200" cy="457200"/>
          </a:xfrm>
          <a:prstGeom prst="ellipse">
            <a:avLst/>
          </a:prstGeom>
          <a:solidFill>
            <a:srgbClr val="0891B2"/>
          </a:solidFill>
          <a:ln/>
        </p:spPr>
        <p:txBody>
          <a:bodyPr/>
          <a:lstStyle/>
          <a:p>
            <a:endParaRPr lang="en-US"/>
          </a:p>
        </p:txBody>
      </p:sp>
      <p:sp>
        <p:nvSpPr>
          <p:cNvPr id="28" name="Text 22"/>
          <p:cNvSpPr/>
          <p:nvPr/>
        </p:nvSpPr>
        <p:spPr>
          <a:xfrm>
            <a:off x="7799832" y="11430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5</a:t>
            </a:r>
            <a:endParaRPr lang="en-US" sz="1600" dirty="0"/>
          </a:p>
        </p:txBody>
      </p:sp>
      <p:sp>
        <p:nvSpPr>
          <p:cNvPr id="29" name="Shape 23"/>
          <p:cNvSpPr/>
          <p:nvPr/>
        </p:nvSpPr>
        <p:spPr>
          <a:xfrm>
            <a:off x="7296912" y="1783080"/>
            <a:ext cx="1554480" cy="1737360"/>
          </a:xfrm>
          <a:prstGeom prst="rect">
            <a:avLst/>
          </a:prstGeom>
          <a:solidFill>
            <a:srgbClr val="FFFFFF"/>
          </a:solidFill>
          <a:ln/>
          <a:effectLst>
            <a:outerShdw blurRad="101600" dist="38100" dir="8100000" algn="bl" rotWithShape="0">
              <a:srgbClr val="000000">
                <a:alpha val="25000"/>
              </a:srgbClr>
            </a:outerShdw>
          </a:effectLst>
        </p:spPr>
        <p:txBody>
          <a:bodyPr/>
          <a:lstStyle/>
          <a:p>
            <a:endParaRPr lang="en-US"/>
          </a:p>
        </p:txBody>
      </p:sp>
      <p:sp>
        <p:nvSpPr>
          <p:cNvPr id="30" name="Text 24"/>
          <p:cNvSpPr/>
          <p:nvPr/>
        </p:nvSpPr>
        <p:spPr>
          <a:xfrm>
            <a:off x="7296912" y="1874520"/>
            <a:ext cx="1554480" cy="320040"/>
          </a:xfrm>
          <a:prstGeom prst="rect">
            <a:avLst/>
          </a:prstGeom>
          <a:noFill/>
          <a:ln/>
        </p:spPr>
        <p:txBody>
          <a:bodyPr wrap="square" lIns="0" tIns="0" rIns="0" bIns="0" rtlCol="0" anchor="ctr"/>
          <a:lstStyle/>
          <a:p>
            <a:pPr marL="0" indent="0" algn="ctr">
              <a:buNone/>
            </a:pPr>
            <a:r>
              <a:rPr lang="en-US" sz="1300" b="1" dirty="0">
                <a:solidFill>
                  <a:srgbClr val="0F1B2D"/>
                </a:solidFill>
                <a:latin typeface="Trebuchet MS" pitchFamily="34" charset="0"/>
                <a:ea typeface="Trebuchet MS" pitchFamily="34" charset="-122"/>
                <a:cs typeface="Trebuchet MS" pitchFamily="34" charset="-120"/>
              </a:rPr>
              <a:t>Assemble</a:t>
            </a:r>
            <a:endParaRPr lang="en-US" sz="1300" dirty="0"/>
          </a:p>
        </p:txBody>
      </p:sp>
      <p:sp>
        <p:nvSpPr>
          <p:cNvPr id="31" name="Text 25"/>
          <p:cNvSpPr/>
          <p:nvPr/>
        </p:nvSpPr>
        <p:spPr>
          <a:xfrm>
            <a:off x="7388352" y="2240280"/>
            <a:ext cx="1371600" cy="1097280"/>
          </a:xfrm>
          <a:prstGeom prst="rect">
            <a:avLst/>
          </a:prstGeom>
          <a:noFill/>
          <a:ln/>
        </p:spPr>
        <p:txBody>
          <a:bodyPr wrap="square" lIns="0" tIns="0" rIns="0" bIns="0" rtlCol="0" anchor="ctr"/>
          <a:lstStyle/>
          <a:p>
            <a:pPr marL="0" indent="0" algn="ctr">
              <a:lnSpc>
                <a:spcPct val="135000"/>
              </a:lnSpc>
              <a:buNone/>
            </a:pPr>
            <a:r>
              <a:rPr lang="en-US" sz="1000" dirty="0">
                <a:solidFill>
                  <a:srgbClr val="334155"/>
                </a:solidFill>
                <a:latin typeface="Calibri" pitchFamily="34" charset="0"/>
                <a:ea typeface="Calibri" pitchFamily="34" charset="-122"/>
                <a:cs typeface="Calibri" pitchFamily="34" charset="-120"/>
              </a:rPr>
              <a:t>CLI builds one</a:t>
            </a:r>
            <a:endParaRPr lang="en-US" sz="1000" dirty="0"/>
          </a:p>
          <a:p>
            <a:pPr marL="0" indent="0" algn="ctr">
              <a:lnSpc>
                <a:spcPct val="135000"/>
              </a:lnSpc>
              <a:buNone/>
            </a:pPr>
            <a:r>
              <a:rPr lang="en-US" sz="1000" dirty="0">
                <a:solidFill>
                  <a:srgbClr val="334155"/>
                </a:solidFill>
                <a:latin typeface="Calibri" pitchFamily="34" charset="0"/>
                <a:ea typeface="Calibri" pitchFamily="34" charset="-122"/>
                <a:cs typeface="Calibri" pitchFamily="34" charset="-120"/>
              </a:rPr>
              <a:t>readable document</a:t>
            </a:r>
            <a:endParaRPr lang="en-US" sz="1000" dirty="0"/>
          </a:p>
          <a:p>
            <a:pPr marL="0" indent="0" algn="ctr">
              <a:lnSpc>
                <a:spcPct val="135000"/>
              </a:lnSpc>
              <a:buNone/>
            </a:pPr>
            <a:r>
              <a:rPr lang="en-US" sz="1000" dirty="0">
                <a:solidFill>
                  <a:srgbClr val="334155"/>
                </a:solidFill>
                <a:latin typeface="Calibri" pitchFamily="34" charset="0"/>
                <a:ea typeface="Calibri" pitchFamily="34" charset="-122"/>
                <a:cs typeface="Calibri" pitchFamily="34" charset="-120"/>
              </a:rPr>
              <a:t>from selected chunks</a:t>
            </a:r>
            <a:endParaRPr lang="en-US" sz="1000" dirty="0"/>
          </a:p>
        </p:txBody>
      </p:sp>
      <p:sp>
        <p:nvSpPr>
          <p:cNvPr id="32" name="Shape 26"/>
          <p:cNvSpPr/>
          <p:nvPr/>
        </p:nvSpPr>
        <p:spPr>
          <a:xfrm>
            <a:off x="457200" y="3840480"/>
            <a:ext cx="8229600" cy="777240"/>
          </a:xfrm>
          <a:prstGeom prst="rect">
            <a:avLst/>
          </a:prstGeom>
          <a:solidFill>
            <a:srgbClr val="0F1B2D"/>
          </a:solidFill>
          <a:ln/>
        </p:spPr>
        <p:txBody>
          <a:bodyPr/>
          <a:lstStyle/>
          <a:p>
            <a:endParaRPr lang="en-US"/>
          </a:p>
        </p:txBody>
      </p:sp>
      <p:pic>
        <p:nvPicPr>
          <p:cNvPr id="33" name="Image 4" descr="preencoded.png"/>
          <p:cNvPicPr>
            <a:picLocks noChangeAspect="1"/>
          </p:cNvPicPr>
          <p:nvPr/>
        </p:nvPicPr>
        <p:blipFill>
          <a:blip r:embed="rId4"/>
          <a:stretch>
            <a:fillRect/>
          </a:stretch>
        </p:blipFill>
        <p:spPr>
          <a:xfrm>
            <a:off x="685800" y="4091940"/>
            <a:ext cx="274320" cy="274320"/>
          </a:xfrm>
          <a:prstGeom prst="rect">
            <a:avLst/>
          </a:prstGeom>
        </p:spPr>
      </p:pic>
      <p:sp>
        <p:nvSpPr>
          <p:cNvPr id="34" name="Text 27"/>
          <p:cNvSpPr/>
          <p:nvPr/>
        </p:nvSpPr>
        <p:spPr>
          <a:xfrm>
            <a:off x="1188720" y="3840480"/>
            <a:ext cx="7132320" cy="7772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The taxonomy handles term translation — "login" matches "authentication" without vector embeddings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marL="0" indent="0">
              <a:buNone/>
            </a:pPr>
            <a:r>
              <a:rPr lang="en-US" sz="3000" b="1" dirty="0">
                <a:solidFill>
                  <a:srgbClr val="0F1B2D"/>
                </a:solidFill>
                <a:latin typeface="Trebuchet MS" pitchFamily="34" charset="0"/>
                <a:ea typeface="Trebuchet MS" pitchFamily="34" charset="-122"/>
                <a:cs typeface="Trebuchet MS" pitchFamily="34" charset="-120"/>
              </a:rPr>
              <a:t>Why Not Vector RAG?</a:t>
            </a:r>
            <a:endParaRPr lang="en-US" sz="3000" dirty="0"/>
          </a:p>
        </p:txBody>
      </p:sp>
      <p:sp>
        <p:nvSpPr>
          <p:cNvPr id="3" name="Shape 1"/>
          <p:cNvSpPr/>
          <p:nvPr/>
        </p:nvSpPr>
        <p:spPr>
          <a:xfrm>
            <a:off x="457200" y="1051560"/>
            <a:ext cx="3840480" cy="3383280"/>
          </a:xfrm>
          <a:prstGeom prst="rect">
            <a:avLst/>
          </a:prstGeom>
          <a:solidFill>
            <a:srgbClr val="FFFFFF"/>
          </a:solidFill>
          <a:ln/>
          <a:effectLst>
            <a:outerShdw blurRad="101600" dist="38100" dir="8100000" algn="bl" rotWithShape="0">
              <a:srgbClr val="000000">
                <a:alpha val="25000"/>
              </a:srgbClr>
            </a:outerShdw>
          </a:effectLst>
        </p:spPr>
        <p:txBody>
          <a:bodyPr/>
          <a:lstStyle/>
          <a:p>
            <a:endParaRPr lang="en-US"/>
          </a:p>
        </p:txBody>
      </p:sp>
      <p:sp>
        <p:nvSpPr>
          <p:cNvPr id="4" name="Shape 2"/>
          <p:cNvSpPr/>
          <p:nvPr/>
        </p:nvSpPr>
        <p:spPr>
          <a:xfrm>
            <a:off x="457200" y="1051560"/>
            <a:ext cx="3840480" cy="457200"/>
          </a:xfrm>
          <a:prstGeom prst="rect">
            <a:avLst/>
          </a:prstGeom>
          <a:solidFill>
            <a:srgbClr val="EF4444"/>
          </a:solidFill>
          <a:ln/>
        </p:spPr>
        <p:txBody>
          <a:bodyPr/>
          <a:lstStyle/>
          <a:p>
            <a:endParaRPr lang="en-US"/>
          </a:p>
        </p:txBody>
      </p:sp>
      <p:sp>
        <p:nvSpPr>
          <p:cNvPr id="5" name="Text 3"/>
          <p:cNvSpPr/>
          <p:nvPr/>
        </p:nvSpPr>
        <p:spPr>
          <a:xfrm>
            <a:off x="457200" y="1051560"/>
            <a:ext cx="38404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Vector RAG</a:t>
            </a:r>
            <a:endParaRPr lang="en-US" sz="1400" dirty="0"/>
          </a:p>
        </p:txBody>
      </p:sp>
      <p:pic>
        <p:nvPicPr>
          <p:cNvPr id="6" name="Image 0" descr="preencoded.png"/>
          <p:cNvPicPr>
            <a:picLocks noChangeAspect="1"/>
          </p:cNvPicPr>
          <p:nvPr/>
        </p:nvPicPr>
        <p:blipFill>
          <a:blip r:embed="rId3"/>
          <a:stretch>
            <a:fillRect/>
          </a:stretch>
        </p:blipFill>
        <p:spPr>
          <a:xfrm>
            <a:off x="731520" y="1691640"/>
            <a:ext cx="182880" cy="182880"/>
          </a:xfrm>
          <a:prstGeom prst="rect">
            <a:avLst/>
          </a:prstGeom>
        </p:spPr>
      </p:pic>
      <p:sp>
        <p:nvSpPr>
          <p:cNvPr id="7" name="Text 4"/>
          <p:cNvSpPr/>
          <p:nvPr/>
        </p:nvSpPr>
        <p:spPr>
          <a:xfrm>
            <a:off x="1051560" y="1664208"/>
            <a:ext cx="3017520" cy="228600"/>
          </a:xfrm>
          <a:prstGeom prst="rect">
            <a:avLst/>
          </a:prstGeom>
          <a:noFill/>
          <a:ln/>
        </p:spPr>
        <p:txBody>
          <a:bodyPr wrap="square" lIns="0" tIns="0" rIns="0" bIns="0" rtlCol="0" anchor="ctr"/>
          <a:lstStyle/>
          <a:p>
            <a:pPr marL="0" indent="0">
              <a:buNone/>
            </a:pPr>
            <a:r>
              <a:rPr lang="en-US" sz="1200" b="1" dirty="0">
                <a:solidFill>
                  <a:srgbClr val="0F1B2D"/>
                </a:solidFill>
                <a:latin typeface="Calibri" pitchFamily="34" charset="0"/>
                <a:ea typeface="Calibri" pitchFamily="34" charset="-122"/>
                <a:cs typeface="Calibri" pitchFamily="34" charset="-120"/>
              </a:rPr>
              <a:t>Retrieval accuracy below 60%</a:t>
            </a:r>
            <a:endParaRPr lang="en-US" sz="1200" dirty="0"/>
          </a:p>
        </p:txBody>
      </p:sp>
      <p:sp>
        <p:nvSpPr>
          <p:cNvPr id="8" name="Text 5"/>
          <p:cNvSpPr/>
          <p:nvPr/>
        </p:nvSpPr>
        <p:spPr>
          <a:xfrm>
            <a:off x="1051560" y="1892808"/>
            <a:ext cx="3017520" cy="2286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Embedding similarity ≠ relevance</a:t>
            </a:r>
            <a:endParaRPr lang="en-US" sz="1000" dirty="0"/>
          </a:p>
        </p:txBody>
      </p:sp>
      <p:pic>
        <p:nvPicPr>
          <p:cNvPr id="9" name="Image 1" descr="preencoded.png"/>
          <p:cNvPicPr>
            <a:picLocks noChangeAspect="1"/>
          </p:cNvPicPr>
          <p:nvPr/>
        </p:nvPicPr>
        <p:blipFill>
          <a:blip r:embed="rId3"/>
          <a:stretch>
            <a:fillRect/>
          </a:stretch>
        </p:blipFill>
        <p:spPr>
          <a:xfrm>
            <a:off x="731520" y="2331720"/>
            <a:ext cx="182880" cy="182880"/>
          </a:xfrm>
          <a:prstGeom prst="rect">
            <a:avLst/>
          </a:prstGeom>
        </p:spPr>
      </p:pic>
      <p:sp>
        <p:nvSpPr>
          <p:cNvPr id="10" name="Text 6"/>
          <p:cNvSpPr/>
          <p:nvPr/>
        </p:nvSpPr>
        <p:spPr>
          <a:xfrm>
            <a:off x="1051560" y="2304288"/>
            <a:ext cx="3017520" cy="228600"/>
          </a:xfrm>
          <a:prstGeom prst="rect">
            <a:avLst/>
          </a:prstGeom>
          <a:noFill/>
          <a:ln/>
        </p:spPr>
        <p:txBody>
          <a:bodyPr wrap="square" lIns="0" tIns="0" rIns="0" bIns="0" rtlCol="0" anchor="ctr"/>
          <a:lstStyle/>
          <a:p>
            <a:pPr marL="0" indent="0">
              <a:buNone/>
            </a:pPr>
            <a:r>
              <a:rPr lang="en-US" sz="1200" b="1" dirty="0">
                <a:solidFill>
                  <a:srgbClr val="0F1B2D"/>
                </a:solidFill>
                <a:latin typeface="Calibri" pitchFamily="34" charset="0"/>
                <a:ea typeface="Calibri" pitchFamily="34" charset="-122"/>
                <a:cs typeface="Calibri" pitchFamily="34" charset="-120"/>
              </a:rPr>
              <a:t>Context destroyed by chunking</a:t>
            </a:r>
            <a:endParaRPr lang="en-US" sz="1200" dirty="0"/>
          </a:p>
        </p:txBody>
      </p:sp>
      <p:sp>
        <p:nvSpPr>
          <p:cNvPr id="11" name="Text 7"/>
          <p:cNvSpPr/>
          <p:nvPr/>
        </p:nvSpPr>
        <p:spPr>
          <a:xfrm>
            <a:off x="1051560" y="2532888"/>
            <a:ext cx="3017520" cy="2286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Instructions lose structural meaning</a:t>
            </a:r>
            <a:endParaRPr lang="en-US" sz="1000" dirty="0"/>
          </a:p>
        </p:txBody>
      </p:sp>
      <p:pic>
        <p:nvPicPr>
          <p:cNvPr id="12" name="Image 2" descr="preencoded.png"/>
          <p:cNvPicPr>
            <a:picLocks noChangeAspect="1"/>
          </p:cNvPicPr>
          <p:nvPr/>
        </p:nvPicPr>
        <p:blipFill>
          <a:blip r:embed="rId3"/>
          <a:stretch>
            <a:fillRect/>
          </a:stretch>
        </p:blipFill>
        <p:spPr>
          <a:xfrm>
            <a:off x="731520" y="2971800"/>
            <a:ext cx="182880" cy="182880"/>
          </a:xfrm>
          <a:prstGeom prst="rect">
            <a:avLst/>
          </a:prstGeom>
        </p:spPr>
      </p:pic>
      <p:sp>
        <p:nvSpPr>
          <p:cNvPr id="13" name="Text 8"/>
          <p:cNvSpPr/>
          <p:nvPr/>
        </p:nvSpPr>
        <p:spPr>
          <a:xfrm>
            <a:off x="1051560" y="2944368"/>
            <a:ext cx="3017520" cy="228600"/>
          </a:xfrm>
          <a:prstGeom prst="rect">
            <a:avLst/>
          </a:prstGeom>
          <a:noFill/>
          <a:ln/>
        </p:spPr>
        <p:txBody>
          <a:bodyPr wrap="square" lIns="0" tIns="0" rIns="0" bIns="0" rtlCol="0" anchor="ctr"/>
          <a:lstStyle/>
          <a:p>
            <a:pPr marL="0" indent="0">
              <a:buNone/>
            </a:pPr>
            <a:r>
              <a:rPr lang="en-US" sz="1200" b="1" dirty="0">
                <a:solidFill>
                  <a:srgbClr val="0F1B2D"/>
                </a:solidFill>
                <a:latin typeface="Calibri" pitchFamily="34" charset="0"/>
                <a:ea typeface="Calibri" pitchFamily="34" charset="-122"/>
                <a:cs typeface="Calibri" pitchFamily="34" charset="-120"/>
              </a:rPr>
              <a:t>Black box scoring</a:t>
            </a:r>
            <a:endParaRPr lang="en-US" sz="1200" dirty="0"/>
          </a:p>
        </p:txBody>
      </p:sp>
      <p:sp>
        <p:nvSpPr>
          <p:cNvPr id="14" name="Text 9"/>
          <p:cNvSpPr/>
          <p:nvPr/>
        </p:nvSpPr>
        <p:spPr>
          <a:xfrm>
            <a:off x="1051560" y="3172968"/>
            <a:ext cx="3017520" cy="2286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Can't explain why a chunk ranked</a:t>
            </a:r>
            <a:endParaRPr lang="en-US" sz="1000" dirty="0"/>
          </a:p>
        </p:txBody>
      </p:sp>
      <p:pic>
        <p:nvPicPr>
          <p:cNvPr id="15" name="Image 3" descr="preencoded.png"/>
          <p:cNvPicPr>
            <a:picLocks noChangeAspect="1"/>
          </p:cNvPicPr>
          <p:nvPr/>
        </p:nvPicPr>
        <p:blipFill>
          <a:blip r:embed="rId3"/>
          <a:stretch>
            <a:fillRect/>
          </a:stretch>
        </p:blipFill>
        <p:spPr>
          <a:xfrm>
            <a:off x="731520" y="3611880"/>
            <a:ext cx="182880" cy="182880"/>
          </a:xfrm>
          <a:prstGeom prst="rect">
            <a:avLst/>
          </a:prstGeom>
        </p:spPr>
      </p:pic>
      <p:sp>
        <p:nvSpPr>
          <p:cNvPr id="16" name="Text 10"/>
          <p:cNvSpPr/>
          <p:nvPr/>
        </p:nvSpPr>
        <p:spPr>
          <a:xfrm>
            <a:off x="1051560" y="3584448"/>
            <a:ext cx="3017520" cy="228600"/>
          </a:xfrm>
          <a:prstGeom prst="rect">
            <a:avLst/>
          </a:prstGeom>
          <a:noFill/>
          <a:ln/>
        </p:spPr>
        <p:txBody>
          <a:bodyPr wrap="square" lIns="0" tIns="0" rIns="0" bIns="0" rtlCol="0" anchor="ctr"/>
          <a:lstStyle/>
          <a:p>
            <a:pPr marL="0" indent="0">
              <a:buNone/>
            </a:pPr>
            <a:r>
              <a:rPr lang="en-US" sz="1200" b="1" dirty="0">
                <a:solidFill>
                  <a:srgbClr val="0F1B2D"/>
                </a:solidFill>
                <a:latin typeface="Calibri" pitchFamily="34" charset="0"/>
                <a:ea typeface="Calibri" pitchFamily="34" charset="-122"/>
                <a:cs typeface="Calibri" pitchFamily="34" charset="-120"/>
              </a:rPr>
              <a:t>Requires embedding infrastructure</a:t>
            </a:r>
            <a:endParaRPr lang="en-US" sz="1200" dirty="0"/>
          </a:p>
        </p:txBody>
      </p:sp>
      <p:sp>
        <p:nvSpPr>
          <p:cNvPr id="17" name="Text 11"/>
          <p:cNvSpPr/>
          <p:nvPr/>
        </p:nvSpPr>
        <p:spPr>
          <a:xfrm>
            <a:off x="1051560" y="3813048"/>
            <a:ext cx="3017520" cy="2286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GPU, vector DB, model dependency</a:t>
            </a:r>
            <a:endParaRPr lang="en-US" sz="1000" dirty="0"/>
          </a:p>
        </p:txBody>
      </p:sp>
      <p:sp>
        <p:nvSpPr>
          <p:cNvPr id="18" name="Shape 12"/>
          <p:cNvSpPr/>
          <p:nvPr/>
        </p:nvSpPr>
        <p:spPr>
          <a:xfrm>
            <a:off x="4846320" y="1051560"/>
            <a:ext cx="3840480" cy="3383280"/>
          </a:xfrm>
          <a:prstGeom prst="rect">
            <a:avLst/>
          </a:prstGeom>
          <a:solidFill>
            <a:srgbClr val="FFFFFF"/>
          </a:solidFill>
          <a:ln/>
          <a:effectLst>
            <a:outerShdw blurRad="101600" dist="38100" dir="8100000" algn="bl" rotWithShape="0">
              <a:srgbClr val="000000">
                <a:alpha val="25000"/>
              </a:srgbClr>
            </a:outerShdw>
          </a:effectLst>
        </p:spPr>
        <p:txBody>
          <a:bodyPr/>
          <a:lstStyle/>
          <a:p>
            <a:endParaRPr lang="en-US"/>
          </a:p>
        </p:txBody>
      </p:sp>
      <p:sp>
        <p:nvSpPr>
          <p:cNvPr id="19" name="Shape 13"/>
          <p:cNvSpPr/>
          <p:nvPr/>
        </p:nvSpPr>
        <p:spPr>
          <a:xfrm>
            <a:off x="4846320" y="1051560"/>
            <a:ext cx="3840480" cy="457200"/>
          </a:xfrm>
          <a:prstGeom prst="rect">
            <a:avLst/>
          </a:prstGeom>
          <a:solidFill>
            <a:srgbClr val="10B981"/>
          </a:solidFill>
          <a:ln/>
        </p:spPr>
        <p:txBody>
          <a:bodyPr/>
          <a:lstStyle/>
          <a:p>
            <a:endParaRPr lang="en-US"/>
          </a:p>
        </p:txBody>
      </p:sp>
      <p:sp>
        <p:nvSpPr>
          <p:cNvPr id="20" name="Text 14"/>
          <p:cNvSpPr/>
          <p:nvPr/>
        </p:nvSpPr>
        <p:spPr>
          <a:xfrm>
            <a:off x="4846320" y="1051560"/>
            <a:ext cx="38404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codectx</a:t>
            </a:r>
            <a:endParaRPr lang="en-US" sz="1400" dirty="0"/>
          </a:p>
        </p:txBody>
      </p:sp>
      <p:pic>
        <p:nvPicPr>
          <p:cNvPr id="21" name="Image 4" descr="preencoded.png"/>
          <p:cNvPicPr>
            <a:picLocks noChangeAspect="1"/>
          </p:cNvPicPr>
          <p:nvPr/>
        </p:nvPicPr>
        <p:blipFill>
          <a:blip r:embed="rId4"/>
          <a:stretch>
            <a:fillRect/>
          </a:stretch>
        </p:blipFill>
        <p:spPr>
          <a:xfrm>
            <a:off x="5120640" y="1691640"/>
            <a:ext cx="182880" cy="182880"/>
          </a:xfrm>
          <a:prstGeom prst="rect">
            <a:avLst/>
          </a:prstGeom>
        </p:spPr>
      </p:pic>
      <p:sp>
        <p:nvSpPr>
          <p:cNvPr id="22" name="Text 15"/>
          <p:cNvSpPr/>
          <p:nvPr/>
        </p:nvSpPr>
        <p:spPr>
          <a:xfrm>
            <a:off x="5440680" y="1664208"/>
            <a:ext cx="3017520" cy="228600"/>
          </a:xfrm>
          <a:prstGeom prst="rect">
            <a:avLst/>
          </a:prstGeom>
          <a:noFill/>
          <a:ln/>
        </p:spPr>
        <p:txBody>
          <a:bodyPr wrap="square" lIns="0" tIns="0" rIns="0" bIns="0" rtlCol="0" anchor="ctr"/>
          <a:lstStyle/>
          <a:p>
            <a:pPr marL="0" indent="0">
              <a:buNone/>
            </a:pPr>
            <a:r>
              <a:rPr lang="en-US" sz="1200" b="1" dirty="0">
                <a:solidFill>
                  <a:srgbClr val="0F1B2D"/>
                </a:solidFill>
                <a:latin typeface="Calibri" pitchFamily="34" charset="0"/>
                <a:ea typeface="Calibri" pitchFamily="34" charset="-122"/>
                <a:cs typeface="Calibri" pitchFamily="34" charset="-120"/>
              </a:rPr>
              <a:t>Deterministic BM25 scoring</a:t>
            </a:r>
            <a:endParaRPr lang="en-US" sz="1200" dirty="0"/>
          </a:p>
        </p:txBody>
      </p:sp>
      <p:sp>
        <p:nvSpPr>
          <p:cNvPr id="23" name="Text 16"/>
          <p:cNvSpPr/>
          <p:nvPr/>
        </p:nvSpPr>
        <p:spPr>
          <a:xfrm>
            <a:off x="5440680" y="1892808"/>
            <a:ext cx="3017520" cy="2286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Every result is explainable and traceable</a:t>
            </a:r>
            <a:endParaRPr lang="en-US" sz="1000" dirty="0"/>
          </a:p>
        </p:txBody>
      </p:sp>
      <p:pic>
        <p:nvPicPr>
          <p:cNvPr id="24" name="Image 5" descr="preencoded.png"/>
          <p:cNvPicPr>
            <a:picLocks noChangeAspect="1"/>
          </p:cNvPicPr>
          <p:nvPr/>
        </p:nvPicPr>
        <p:blipFill>
          <a:blip r:embed="rId4"/>
          <a:stretch>
            <a:fillRect/>
          </a:stretch>
        </p:blipFill>
        <p:spPr>
          <a:xfrm>
            <a:off x="5120640" y="2331720"/>
            <a:ext cx="182880" cy="182880"/>
          </a:xfrm>
          <a:prstGeom prst="rect">
            <a:avLst/>
          </a:prstGeom>
        </p:spPr>
      </p:pic>
      <p:sp>
        <p:nvSpPr>
          <p:cNvPr id="25" name="Text 17"/>
          <p:cNvSpPr/>
          <p:nvPr/>
        </p:nvSpPr>
        <p:spPr>
          <a:xfrm>
            <a:off x="5440680" y="2304288"/>
            <a:ext cx="3017520" cy="228600"/>
          </a:xfrm>
          <a:prstGeom prst="rect">
            <a:avLst/>
          </a:prstGeom>
          <a:noFill/>
          <a:ln/>
        </p:spPr>
        <p:txBody>
          <a:bodyPr wrap="square" lIns="0" tIns="0" rIns="0" bIns="0" rtlCol="0" anchor="ctr"/>
          <a:lstStyle/>
          <a:p>
            <a:pPr marL="0" indent="0">
              <a:buNone/>
            </a:pPr>
            <a:r>
              <a:rPr lang="en-US" sz="1200" b="1" dirty="0">
                <a:solidFill>
                  <a:srgbClr val="0F1B2D"/>
                </a:solidFill>
                <a:latin typeface="Calibri" pitchFamily="34" charset="0"/>
                <a:ea typeface="Calibri" pitchFamily="34" charset="-122"/>
                <a:cs typeface="Calibri" pitchFamily="34" charset="-120"/>
              </a:rPr>
              <a:t>Structural context preserved</a:t>
            </a:r>
            <a:endParaRPr lang="en-US" sz="1200" dirty="0"/>
          </a:p>
        </p:txBody>
      </p:sp>
      <p:sp>
        <p:nvSpPr>
          <p:cNvPr id="26" name="Text 18"/>
          <p:cNvSpPr/>
          <p:nvPr/>
        </p:nvSpPr>
        <p:spPr>
          <a:xfrm>
            <a:off x="5440680" y="2532888"/>
            <a:ext cx="3017520" cy="2286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Chunks carry heading paths and bridges</a:t>
            </a:r>
            <a:endParaRPr lang="en-US" sz="1000" dirty="0"/>
          </a:p>
        </p:txBody>
      </p:sp>
      <p:pic>
        <p:nvPicPr>
          <p:cNvPr id="27" name="Image 6" descr="preencoded.png"/>
          <p:cNvPicPr>
            <a:picLocks noChangeAspect="1"/>
          </p:cNvPicPr>
          <p:nvPr/>
        </p:nvPicPr>
        <p:blipFill>
          <a:blip r:embed="rId4"/>
          <a:stretch>
            <a:fillRect/>
          </a:stretch>
        </p:blipFill>
        <p:spPr>
          <a:xfrm>
            <a:off x="5120640" y="2971800"/>
            <a:ext cx="182880" cy="182880"/>
          </a:xfrm>
          <a:prstGeom prst="rect">
            <a:avLst/>
          </a:prstGeom>
        </p:spPr>
      </p:pic>
      <p:sp>
        <p:nvSpPr>
          <p:cNvPr id="28" name="Text 19"/>
          <p:cNvSpPr/>
          <p:nvPr/>
        </p:nvSpPr>
        <p:spPr>
          <a:xfrm>
            <a:off x="5440680" y="2944368"/>
            <a:ext cx="3017520" cy="228600"/>
          </a:xfrm>
          <a:prstGeom prst="rect">
            <a:avLst/>
          </a:prstGeom>
          <a:noFill/>
          <a:ln/>
        </p:spPr>
        <p:txBody>
          <a:bodyPr wrap="square" lIns="0" tIns="0" rIns="0" bIns="0" rtlCol="0" anchor="ctr"/>
          <a:lstStyle/>
          <a:p>
            <a:pPr marL="0" indent="0">
              <a:buNone/>
            </a:pPr>
            <a:r>
              <a:rPr lang="en-US" sz="1200" b="1" dirty="0">
                <a:solidFill>
                  <a:srgbClr val="0F1B2D"/>
                </a:solidFill>
                <a:latin typeface="Calibri" pitchFamily="34" charset="0"/>
                <a:ea typeface="Calibri" pitchFamily="34" charset="-122"/>
                <a:cs typeface="Calibri" pitchFamily="34" charset="-120"/>
              </a:rPr>
              <a:t>Compiled taxonomy for translation</a:t>
            </a:r>
            <a:endParaRPr lang="en-US" sz="1200" dirty="0"/>
          </a:p>
        </p:txBody>
      </p:sp>
      <p:sp>
        <p:nvSpPr>
          <p:cNvPr id="29" name="Text 20"/>
          <p:cNvSpPr/>
          <p:nvPr/>
        </p:nvSpPr>
        <p:spPr>
          <a:xfrm>
            <a:off x="5440680" y="3172968"/>
            <a:ext cx="3017520" cy="2286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Synonym mapping without embeddings</a:t>
            </a:r>
            <a:endParaRPr lang="en-US" sz="1000" dirty="0"/>
          </a:p>
        </p:txBody>
      </p:sp>
      <p:pic>
        <p:nvPicPr>
          <p:cNvPr id="30" name="Image 7" descr="preencoded.png"/>
          <p:cNvPicPr>
            <a:picLocks noChangeAspect="1"/>
          </p:cNvPicPr>
          <p:nvPr/>
        </p:nvPicPr>
        <p:blipFill>
          <a:blip r:embed="rId4"/>
          <a:stretch>
            <a:fillRect/>
          </a:stretch>
        </p:blipFill>
        <p:spPr>
          <a:xfrm>
            <a:off x="5120640" y="3611880"/>
            <a:ext cx="182880" cy="182880"/>
          </a:xfrm>
          <a:prstGeom prst="rect">
            <a:avLst/>
          </a:prstGeom>
        </p:spPr>
      </p:pic>
      <p:sp>
        <p:nvSpPr>
          <p:cNvPr id="31" name="Text 21"/>
          <p:cNvSpPr/>
          <p:nvPr/>
        </p:nvSpPr>
        <p:spPr>
          <a:xfrm>
            <a:off x="5440680" y="3584448"/>
            <a:ext cx="3017520" cy="228600"/>
          </a:xfrm>
          <a:prstGeom prst="rect">
            <a:avLst/>
          </a:prstGeom>
          <a:noFill/>
          <a:ln/>
        </p:spPr>
        <p:txBody>
          <a:bodyPr wrap="square" lIns="0" tIns="0" rIns="0" bIns="0" rtlCol="0" anchor="ctr"/>
          <a:lstStyle/>
          <a:p>
            <a:pPr marL="0" indent="0">
              <a:buNone/>
            </a:pPr>
            <a:r>
              <a:rPr lang="en-US" sz="1200" b="1" dirty="0">
                <a:solidFill>
                  <a:srgbClr val="0F1B2D"/>
                </a:solidFill>
                <a:latin typeface="Calibri" pitchFamily="34" charset="0"/>
                <a:ea typeface="Calibri" pitchFamily="34" charset="-122"/>
                <a:cs typeface="Calibri" pitchFamily="34" charset="-120"/>
              </a:rPr>
              <a:t>Zero infrastructure</a:t>
            </a:r>
            <a:endParaRPr lang="en-US" sz="1200" dirty="0"/>
          </a:p>
        </p:txBody>
      </p:sp>
      <p:sp>
        <p:nvSpPr>
          <p:cNvPr id="32" name="Text 22"/>
          <p:cNvSpPr/>
          <p:nvPr/>
        </p:nvSpPr>
        <p:spPr>
          <a:xfrm>
            <a:off x="5440680" y="3813048"/>
            <a:ext cx="3017520" cy="22860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Pure Go binary, no GPU or vector DB</a:t>
            </a:r>
            <a:endParaRPr lang="en-US" sz="1000" dirty="0"/>
          </a:p>
        </p:txBody>
      </p:sp>
      <p:sp>
        <p:nvSpPr>
          <p:cNvPr id="33" name="Text 23"/>
          <p:cNvSpPr/>
          <p:nvPr/>
        </p:nvSpPr>
        <p:spPr>
          <a:xfrm>
            <a:off x="731520" y="4617720"/>
            <a:ext cx="7680960" cy="365760"/>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It's RAG without the parts that make RAG unreliable — lossy vectors, black-box similarity, chunking that destroys context.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7">
    <p:bg>
      <p:bgPr>
        <a:solidFill>
          <a:srgbClr val="0A1220"/>
        </a:solidFill>
        <a:effectLst/>
      </p:bgPr>
    </p:bg>
    <p:spTree>
      <p:nvGrpSpPr>
        <p:cNvPr id="1" name=""/>
        <p:cNvGrpSpPr/>
        <p:nvPr/>
      </p:nvGrpSpPr>
      <p:grpSpPr>
        <a:xfrm>
          <a:off x="0" y="0"/>
          <a:ext cx="0" cy="0"/>
          <a:chOff x="0" y="0"/>
          <a:chExt cx="0" cy="0"/>
        </a:xfrm>
      </p:grpSpPr>
      <p:sp>
        <p:nvSpPr>
          <p:cNvPr id="2" name="Text 0"/>
          <p:cNvSpPr/>
          <p:nvPr/>
        </p:nvSpPr>
        <p:spPr>
          <a:xfrm>
            <a:off x="731520" y="228600"/>
            <a:ext cx="7680960" cy="50292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Package Ecosystem</a:t>
            </a:r>
            <a:endParaRPr lang="en-US" sz="3000" dirty="0"/>
          </a:p>
        </p:txBody>
      </p:sp>
      <p:sp>
        <p:nvSpPr>
          <p:cNvPr id="3" name="Text 1"/>
          <p:cNvSpPr/>
          <p:nvPr/>
        </p:nvSpPr>
        <p:spPr>
          <a:xfrm>
            <a:off x="731520" y="685800"/>
            <a:ext cx="7315200" cy="27432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Shareable documentation packages on GitHub</a:t>
            </a:r>
            <a:endParaRPr lang="en-US" sz="1300" dirty="0"/>
          </a:p>
        </p:txBody>
      </p:sp>
      <p:sp>
        <p:nvSpPr>
          <p:cNvPr id="4" name="Shape 2"/>
          <p:cNvSpPr/>
          <p:nvPr/>
        </p:nvSpPr>
        <p:spPr>
          <a:xfrm>
            <a:off x="3827107" y="1830892"/>
            <a:ext cx="1600200" cy="1600200"/>
          </a:xfrm>
          <a:prstGeom prst="ellipse">
            <a:avLst/>
          </a:prstGeom>
          <a:solidFill>
            <a:srgbClr val="162540"/>
          </a:solidFill>
          <a:ln w="25400">
            <a:solidFill>
              <a:srgbClr val="0891B2"/>
            </a:solidFill>
            <a:prstDash val="solid"/>
          </a:ln>
        </p:spPr>
        <p:txBody>
          <a:bodyPr/>
          <a:lstStyle/>
          <a:p>
            <a:endParaRPr lang="en-US"/>
          </a:p>
        </p:txBody>
      </p:sp>
      <p:sp>
        <p:nvSpPr>
          <p:cNvPr id="5" name="Text 3"/>
          <p:cNvSpPr/>
          <p:nvPr/>
        </p:nvSpPr>
        <p:spPr>
          <a:xfrm>
            <a:off x="3827107" y="2136443"/>
            <a:ext cx="1600200" cy="914400"/>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Your</a:t>
            </a:r>
            <a:endParaRPr lang="en-US" sz="1600" dirty="0"/>
          </a:p>
          <a:p>
            <a:pPr marL="0" indent="0" algn="ctr">
              <a:buNone/>
            </a:pPr>
            <a:r>
              <a:rPr lang="en-US" sz="1600" b="1" dirty="0">
                <a:solidFill>
                  <a:srgbClr val="FFFFFF"/>
                </a:solidFill>
                <a:latin typeface="Trebuchet MS" pitchFamily="34" charset="0"/>
                <a:ea typeface="Trebuchet MS" pitchFamily="34" charset="-122"/>
                <a:cs typeface="Trebuchet MS" pitchFamily="34" charset="-120"/>
              </a:rPr>
              <a:t>Project</a:t>
            </a:r>
            <a:endParaRPr lang="en-US" sz="1600" dirty="0"/>
          </a:p>
        </p:txBody>
      </p:sp>
      <p:sp>
        <p:nvSpPr>
          <p:cNvPr id="6" name="Shape 4"/>
          <p:cNvSpPr/>
          <p:nvPr/>
        </p:nvSpPr>
        <p:spPr>
          <a:xfrm>
            <a:off x="713920" y="1375786"/>
            <a:ext cx="2221991" cy="594360"/>
          </a:xfrm>
          <a:prstGeom prst="snip2DiagRect">
            <a:avLst/>
          </a:prstGeom>
          <a:solidFill>
            <a:srgbClr val="162540"/>
          </a:solidFill>
          <a:ln w="12700">
            <a:solidFill>
              <a:srgbClr val="0891B2"/>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23649" y="1535805"/>
            <a:ext cx="274320" cy="274320"/>
          </a:xfrm>
          <a:prstGeom prst="rect">
            <a:avLst/>
          </a:prstGeom>
        </p:spPr>
      </p:pic>
      <p:sp>
        <p:nvSpPr>
          <p:cNvPr id="8" name="Text 5"/>
          <p:cNvSpPr/>
          <p:nvPr/>
        </p:nvSpPr>
        <p:spPr>
          <a:xfrm>
            <a:off x="1207697" y="1375786"/>
            <a:ext cx="1517904" cy="594360"/>
          </a:xfrm>
          <a:prstGeom prst="rect">
            <a:avLst/>
          </a:prstGeom>
          <a:noFill/>
          <a:ln/>
        </p:spPr>
        <p:txBody>
          <a:bodyPr wrap="square" lIns="0" tIns="0" rIns="0" bIns="0" rtlCol="0" anchor="ctr"/>
          <a:lstStyle/>
          <a:p>
            <a:pPr marL="0" indent="0">
              <a:lnSpc>
                <a:spcPct val="130000"/>
              </a:lnSpc>
              <a:buNone/>
            </a:pPr>
            <a:r>
              <a:rPr lang="en-US" sz="900" dirty="0">
                <a:solidFill>
                  <a:srgbClr val="FFFFFF"/>
                </a:solidFill>
                <a:latin typeface="Consolas" pitchFamily="34" charset="0"/>
                <a:ea typeface="Consolas" pitchFamily="34" charset="-122"/>
                <a:cs typeface="Consolas" pitchFamily="34" charset="-120"/>
              </a:rPr>
              <a:t>codectx-react</a:t>
            </a:r>
            <a:endParaRPr lang="en-US" sz="900" dirty="0"/>
          </a:p>
        </p:txBody>
      </p:sp>
      <p:sp>
        <p:nvSpPr>
          <p:cNvPr id="9" name="Text 6"/>
          <p:cNvSpPr/>
          <p:nvPr/>
        </p:nvSpPr>
        <p:spPr>
          <a:xfrm>
            <a:off x="713921" y="1192906"/>
            <a:ext cx="2011680" cy="182880"/>
          </a:xfrm>
          <a:prstGeom prst="rect">
            <a:avLst/>
          </a:prstGeom>
          <a:noFill/>
          <a:ln/>
        </p:spPr>
        <p:txBody>
          <a:bodyPr wrap="square" lIns="0" tIns="0" rIns="0" bIns="0" rtlCol="0" anchor="ctr"/>
          <a:lstStyle/>
          <a:p>
            <a:pPr marL="0" indent="0">
              <a:buNone/>
            </a:pPr>
            <a:r>
              <a:rPr lang="en-US" sz="800" dirty="0">
                <a:solidFill>
                  <a:srgbClr val="10B981"/>
                </a:solidFill>
                <a:latin typeface="Calibri" pitchFamily="34" charset="0"/>
                <a:ea typeface="Calibri" pitchFamily="34" charset="-122"/>
                <a:cs typeface="Calibri" pitchFamily="34" charset="-120"/>
              </a:rPr>
              <a:t>active</a:t>
            </a:r>
            <a:endParaRPr lang="en-US" sz="800" dirty="0"/>
          </a:p>
        </p:txBody>
      </p:sp>
      <p:sp>
        <p:nvSpPr>
          <p:cNvPr id="22" name="Text 16"/>
          <p:cNvSpPr/>
          <p:nvPr/>
        </p:nvSpPr>
        <p:spPr>
          <a:xfrm>
            <a:off x="457200" y="4434840"/>
            <a:ext cx="8229600" cy="32004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Packages are GitHub repos with codectx-* naming  ·  Versioned via git tags  ·  Active/inactive toggling controls context budget</a:t>
            </a:r>
            <a:endParaRPr lang="en-US" sz="1000" dirty="0"/>
          </a:p>
        </p:txBody>
      </p:sp>
      <p:sp>
        <p:nvSpPr>
          <p:cNvPr id="23" name="Shape 4">
            <a:extLst>
              <a:ext uri="{FF2B5EF4-FFF2-40B4-BE49-F238E27FC236}">
                <a16:creationId xmlns:a16="http://schemas.microsoft.com/office/drawing/2014/main" id="{D1575F83-8160-6455-2408-8E3533810A8A}"/>
              </a:ext>
            </a:extLst>
          </p:cNvPr>
          <p:cNvSpPr/>
          <p:nvPr/>
        </p:nvSpPr>
        <p:spPr>
          <a:xfrm>
            <a:off x="6318504" y="1379971"/>
            <a:ext cx="2221992" cy="594360"/>
          </a:xfrm>
          <a:prstGeom prst="snip2DiagRect">
            <a:avLst/>
          </a:prstGeom>
          <a:solidFill>
            <a:srgbClr val="162540"/>
          </a:solidFill>
          <a:ln w="12700">
            <a:solidFill>
              <a:srgbClr val="0891B2"/>
            </a:solidFill>
            <a:prstDash val="solid"/>
          </a:ln>
        </p:spPr>
        <p:txBody>
          <a:bodyPr/>
          <a:lstStyle/>
          <a:p>
            <a:endParaRPr lang="en-US"/>
          </a:p>
        </p:txBody>
      </p:sp>
      <p:pic>
        <p:nvPicPr>
          <p:cNvPr id="24" name="Image 0" descr="preencoded.png">
            <a:extLst>
              <a:ext uri="{FF2B5EF4-FFF2-40B4-BE49-F238E27FC236}">
                <a16:creationId xmlns:a16="http://schemas.microsoft.com/office/drawing/2014/main" id="{FAA831D0-2D12-488B-50FC-3CED5B13E13F}"/>
              </a:ext>
            </a:extLst>
          </p:cNvPr>
          <p:cNvPicPr>
            <a:picLocks noChangeAspect="1"/>
          </p:cNvPicPr>
          <p:nvPr/>
        </p:nvPicPr>
        <p:blipFill>
          <a:blip r:embed="rId3"/>
          <a:stretch>
            <a:fillRect/>
          </a:stretch>
        </p:blipFill>
        <p:spPr>
          <a:xfrm>
            <a:off x="6428232" y="1556572"/>
            <a:ext cx="274320" cy="274320"/>
          </a:xfrm>
          <a:prstGeom prst="rect">
            <a:avLst/>
          </a:prstGeom>
        </p:spPr>
      </p:pic>
      <p:sp>
        <p:nvSpPr>
          <p:cNvPr id="25" name="Text 5">
            <a:extLst>
              <a:ext uri="{FF2B5EF4-FFF2-40B4-BE49-F238E27FC236}">
                <a16:creationId xmlns:a16="http://schemas.microsoft.com/office/drawing/2014/main" id="{B6C22EFE-17B7-6755-DB88-6ED602A5A50D}"/>
              </a:ext>
            </a:extLst>
          </p:cNvPr>
          <p:cNvSpPr/>
          <p:nvPr/>
        </p:nvSpPr>
        <p:spPr>
          <a:xfrm>
            <a:off x="6812280" y="1379971"/>
            <a:ext cx="1517904" cy="594360"/>
          </a:xfrm>
          <a:prstGeom prst="rect">
            <a:avLst/>
          </a:prstGeom>
          <a:noFill/>
          <a:ln/>
        </p:spPr>
        <p:txBody>
          <a:bodyPr wrap="square" lIns="0" tIns="0" rIns="0" bIns="0" rtlCol="0" anchor="ctr"/>
          <a:lstStyle/>
          <a:p>
            <a:pPr marL="0" indent="0">
              <a:lnSpc>
                <a:spcPct val="130000"/>
              </a:lnSpc>
              <a:buNone/>
            </a:pPr>
            <a:r>
              <a:rPr lang="en-US" sz="900" dirty="0">
                <a:solidFill>
                  <a:srgbClr val="FFFFFF"/>
                </a:solidFill>
                <a:latin typeface="Consolas" pitchFamily="34" charset="0"/>
                <a:ea typeface="Consolas" pitchFamily="34" charset="-122"/>
                <a:cs typeface="Consolas" pitchFamily="34" charset="-120"/>
              </a:rPr>
              <a:t>codectx-</a:t>
            </a:r>
            <a:r>
              <a:rPr lang="en-US" sz="900" dirty="0" err="1">
                <a:solidFill>
                  <a:srgbClr val="FFFFFF"/>
                </a:solidFill>
                <a:latin typeface="Consolas" pitchFamily="34" charset="0"/>
                <a:ea typeface="Consolas" pitchFamily="34" charset="-122"/>
                <a:cs typeface="Consolas" pitchFamily="34" charset="-120"/>
              </a:rPr>
              <a:t>fastapi</a:t>
            </a:r>
            <a:endParaRPr lang="en-US" sz="900" dirty="0"/>
          </a:p>
        </p:txBody>
      </p:sp>
      <p:sp>
        <p:nvSpPr>
          <p:cNvPr id="26" name="Text 6">
            <a:extLst>
              <a:ext uri="{FF2B5EF4-FFF2-40B4-BE49-F238E27FC236}">
                <a16:creationId xmlns:a16="http://schemas.microsoft.com/office/drawing/2014/main" id="{5A489674-CD59-24DC-17D8-42A8B278D93C}"/>
              </a:ext>
            </a:extLst>
          </p:cNvPr>
          <p:cNvSpPr/>
          <p:nvPr/>
        </p:nvSpPr>
        <p:spPr>
          <a:xfrm>
            <a:off x="6318504" y="1197091"/>
            <a:ext cx="2011680" cy="182880"/>
          </a:xfrm>
          <a:prstGeom prst="rect">
            <a:avLst/>
          </a:prstGeom>
          <a:noFill/>
          <a:ln/>
        </p:spPr>
        <p:txBody>
          <a:bodyPr wrap="square" lIns="0" tIns="0" rIns="0" bIns="0" rtlCol="0" anchor="ctr"/>
          <a:lstStyle/>
          <a:p>
            <a:pPr marL="0" indent="0">
              <a:buNone/>
            </a:pPr>
            <a:r>
              <a:rPr lang="en-US" sz="800" dirty="0">
                <a:solidFill>
                  <a:srgbClr val="10B981"/>
                </a:solidFill>
                <a:latin typeface="Calibri" pitchFamily="34" charset="0"/>
                <a:ea typeface="Calibri" pitchFamily="34" charset="-122"/>
                <a:cs typeface="Calibri" pitchFamily="34" charset="-120"/>
              </a:rPr>
              <a:t>active</a:t>
            </a:r>
            <a:endParaRPr lang="en-US" sz="800" dirty="0"/>
          </a:p>
        </p:txBody>
      </p:sp>
      <p:sp>
        <p:nvSpPr>
          <p:cNvPr id="27" name="Shape 4">
            <a:extLst>
              <a:ext uri="{FF2B5EF4-FFF2-40B4-BE49-F238E27FC236}">
                <a16:creationId xmlns:a16="http://schemas.microsoft.com/office/drawing/2014/main" id="{DEA37084-A339-6708-9E46-0469ECBD54C5}"/>
              </a:ext>
            </a:extLst>
          </p:cNvPr>
          <p:cNvSpPr/>
          <p:nvPr/>
        </p:nvSpPr>
        <p:spPr>
          <a:xfrm>
            <a:off x="713233" y="2338321"/>
            <a:ext cx="2223366" cy="594360"/>
          </a:xfrm>
          <a:prstGeom prst="snip2DiagRect">
            <a:avLst/>
          </a:prstGeom>
          <a:solidFill>
            <a:srgbClr val="162540"/>
          </a:solidFill>
          <a:ln w="12700">
            <a:solidFill>
              <a:srgbClr val="0891B2"/>
            </a:solidFill>
            <a:prstDash val="solid"/>
          </a:ln>
        </p:spPr>
        <p:txBody>
          <a:bodyPr/>
          <a:lstStyle/>
          <a:p>
            <a:endParaRPr lang="en-US"/>
          </a:p>
        </p:txBody>
      </p:sp>
      <p:pic>
        <p:nvPicPr>
          <p:cNvPr id="28" name="Image 0" descr="preencoded.png">
            <a:extLst>
              <a:ext uri="{FF2B5EF4-FFF2-40B4-BE49-F238E27FC236}">
                <a16:creationId xmlns:a16="http://schemas.microsoft.com/office/drawing/2014/main" id="{C2C69EB4-5856-44DD-5977-6645817643F4}"/>
              </a:ext>
            </a:extLst>
          </p:cNvPr>
          <p:cNvPicPr>
            <a:picLocks noChangeAspect="1"/>
          </p:cNvPicPr>
          <p:nvPr/>
        </p:nvPicPr>
        <p:blipFill>
          <a:blip r:embed="rId3"/>
          <a:stretch>
            <a:fillRect/>
          </a:stretch>
        </p:blipFill>
        <p:spPr>
          <a:xfrm>
            <a:off x="822961" y="2517016"/>
            <a:ext cx="274320" cy="274320"/>
          </a:xfrm>
          <a:prstGeom prst="rect">
            <a:avLst/>
          </a:prstGeom>
        </p:spPr>
      </p:pic>
      <p:sp>
        <p:nvSpPr>
          <p:cNvPr id="29" name="Text 5">
            <a:extLst>
              <a:ext uri="{FF2B5EF4-FFF2-40B4-BE49-F238E27FC236}">
                <a16:creationId xmlns:a16="http://schemas.microsoft.com/office/drawing/2014/main" id="{3A388863-B9EB-E33E-4E9F-2672AC1C36A6}"/>
              </a:ext>
            </a:extLst>
          </p:cNvPr>
          <p:cNvSpPr/>
          <p:nvPr/>
        </p:nvSpPr>
        <p:spPr>
          <a:xfrm>
            <a:off x="1207009" y="2338321"/>
            <a:ext cx="1517904" cy="594360"/>
          </a:xfrm>
          <a:prstGeom prst="rect">
            <a:avLst/>
          </a:prstGeom>
          <a:noFill/>
          <a:ln/>
        </p:spPr>
        <p:txBody>
          <a:bodyPr wrap="square" lIns="0" tIns="0" rIns="0" bIns="0" rtlCol="0" anchor="ctr"/>
          <a:lstStyle/>
          <a:p>
            <a:pPr marL="0" indent="0">
              <a:lnSpc>
                <a:spcPct val="130000"/>
              </a:lnSpc>
              <a:buNone/>
            </a:pPr>
            <a:r>
              <a:rPr lang="en-US" sz="900" dirty="0">
                <a:solidFill>
                  <a:srgbClr val="FFFFFF"/>
                </a:solidFill>
                <a:latin typeface="Consolas" pitchFamily="34" charset="0"/>
                <a:ea typeface="Consolas" pitchFamily="34" charset="-122"/>
                <a:cs typeface="Consolas" pitchFamily="34" charset="-120"/>
              </a:rPr>
              <a:t>codectx-</a:t>
            </a:r>
            <a:r>
              <a:rPr lang="en-US" sz="900" dirty="0" err="1">
                <a:solidFill>
                  <a:srgbClr val="FFFFFF"/>
                </a:solidFill>
                <a:latin typeface="Consolas" pitchFamily="34" charset="0"/>
                <a:ea typeface="Consolas" pitchFamily="34" charset="-122"/>
                <a:cs typeface="Consolas" pitchFamily="34" charset="-120"/>
              </a:rPr>
              <a:t>ftm-nextjs</a:t>
            </a:r>
            <a:endParaRPr lang="en-US" sz="900" dirty="0"/>
          </a:p>
        </p:txBody>
      </p:sp>
      <p:sp>
        <p:nvSpPr>
          <p:cNvPr id="30" name="Text 6">
            <a:extLst>
              <a:ext uri="{FF2B5EF4-FFF2-40B4-BE49-F238E27FC236}">
                <a16:creationId xmlns:a16="http://schemas.microsoft.com/office/drawing/2014/main" id="{28C772A0-A0B6-3E50-EAD0-8152CC584C74}"/>
              </a:ext>
            </a:extLst>
          </p:cNvPr>
          <p:cNvSpPr/>
          <p:nvPr/>
        </p:nvSpPr>
        <p:spPr>
          <a:xfrm>
            <a:off x="713233" y="2155441"/>
            <a:ext cx="2011680" cy="182880"/>
          </a:xfrm>
          <a:prstGeom prst="rect">
            <a:avLst/>
          </a:prstGeom>
          <a:noFill/>
          <a:ln/>
        </p:spPr>
        <p:txBody>
          <a:bodyPr wrap="square" lIns="0" tIns="0" rIns="0" bIns="0" rtlCol="0" anchor="ctr"/>
          <a:lstStyle/>
          <a:p>
            <a:pPr marL="0" indent="0">
              <a:buNone/>
            </a:pPr>
            <a:r>
              <a:rPr lang="en-US" sz="800" dirty="0">
                <a:solidFill>
                  <a:srgbClr val="10B981"/>
                </a:solidFill>
                <a:latin typeface="Calibri" pitchFamily="34" charset="0"/>
                <a:ea typeface="Calibri" pitchFamily="34" charset="-122"/>
                <a:cs typeface="Calibri" pitchFamily="34" charset="-120"/>
              </a:rPr>
              <a:t>active</a:t>
            </a:r>
            <a:endParaRPr lang="en-US" sz="800" dirty="0"/>
          </a:p>
        </p:txBody>
      </p:sp>
      <p:sp>
        <p:nvSpPr>
          <p:cNvPr id="31" name="Shape 4">
            <a:extLst>
              <a:ext uri="{FF2B5EF4-FFF2-40B4-BE49-F238E27FC236}">
                <a16:creationId xmlns:a16="http://schemas.microsoft.com/office/drawing/2014/main" id="{969A6315-C162-64B9-227E-C74E09148E85}"/>
              </a:ext>
            </a:extLst>
          </p:cNvPr>
          <p:cNvSpPr/>
          <p:nvPr/>
        </p:nvSpPr>
        <p:spPr>
          <a:xfrm>
            <a:off x="713921" y="3366698"/>
            <a:ext cx="2221990" cy="594360"/>
          </a:xfrm>
          <a:prstGeom prst="snip2DiagRect">
            <a:avLst/>
          </a:prstGeom>
          <a:solidFill>
            <a:srgbClr val="162540"/>
          </a:solidFill>
          <a:ln w="12700">
            <a:solidFill>
              <a:srgbClr val="0891B2"/>
            </a:solidFill>
            <a:prstDash val="solid"/>
          </a:ln>
        </p:spPr>
        <p:txBody>
          <a:bodyPr/>
          <a:lstStyle/>
          <a:p>
            <a:endParaRPr lang="en-US" dirty="0"/>
          </a:p>
        </p:txBody>
      </p:sp>
      <p:pic>
        <p:nvPicPr>
          <p:cNvPr id="32" name="Image 0" descr="preencoded.png">
            <a:extLst>
              <a:ext uri="{FF2B5EF4-FFF2-40B4-BE49-F238E27FC236}">
                <a16:creationId xmlns:a16="http://schemas.microsoft.com/office/drawing/2014/main" id="{4F7D718F-D3F8-F845-7FAF-309824C4F76F}"/>
              </a:ext>
            </a:extLst>
          </p:cNvPr>
          <p:cNvPicPr>
            <a:picLocks noChangeAspect="1"/>
          </p:cNvPicPr>
          <p:nvPr/>
        </p:nvPicPr>
        <p:blipFill>
          <a:blip r:embed="rId3"/>
          <a:stretch>
            <a:fillRect/>
          </a:stretch>
        </p:blipFill>
        <p:spPr>
          <a:xfrm>
            <a:off x="818755" y="3546358"/>
            <a:ext cx="274320" cy="274320"/>
          </a:xfrm>
          <a:prstGeom prst="rect">
            <a:avLst/>
          </a:prstGeom>
        </p:spPr>
      </p:pic>
      <p:sp>
        <p:nvSpPr>
          <p:cNvPr id="33" name="Text 5">
            <a:extLst>
              <a:ext uri="{FF2B5EF4-FFF2-40B4-BE49-F238E27FC236}">
                <a16:creationId xmlns:a16="http://schemas.microsoft.com/office/drawing/2014/main" id="{27F86F15-3016-A9BB-D030-1F912ECAB0C3}"/>
              </a:ext>
            </a:extLst>
          </p:cNvPr>
          <p:cNvSpPr/>
          <p:nvPr/>
        </p:nvSpPr>
        <p:spPr>
          <a:xfrm>
            <a:off x="1207697" y="3366698"/>
            <a:ext cx="1517904" cy="594360"/>
          </a:xfrm>
          <a:prstGeom prst="rect">
            <a:avLst/>
          </a:prstGeom>
          <a:noFill/>
          <a:ln/>
        </p:spPr>
        <p:txBody>
          <a:bodyPr wrap="square" lIns="0" tIns="0" rIns="0" bIns="0" rtlCol="0" anchor="ctr"/>
          <a:lstStyle/>
          <a:p>
            <a:pPr marL="0" indent="0">
              <a:lnSpc>
                <a:spcPct val="130000"/>
              </a:lnSpc>
              <a:buNone/>
            </a:pPr>
            <a:r>
              <a:rPr lang="en-US" sz="900" dirty="0">
                <a:solidFill>
                  <a:srgbClr val="FFFFFF"/>
                </a:solidFill>
                <a:latin typeface="Consolas" pitchFamily="34" charset="0"/>
                <a:ea typeface="Consolas" pitchFamily="34" charset="-122"/>
                <a:cs typeface="Consolas" pitchFamily="34" charset="-120"/>
              </a:rPr>
              <a:t>codectx-</a:t>
            </a:r>
            <a:r>
              <a:rPr lang="en-US" sz="900" dirty="0" err="1">
                <a:solidFill>
                  <a:srgbClr val="FFFFFF"/>
                </a:solidFill>
                <a:latin typeface="Consolas" pitchFamily="34" charset="0"/>
                <a:ea typeface="Consolas" pitchFamily="34" charset="-122"/>
                <a:cs typeface="Consolas" pitchFamily="34" charset="-120"/>
              </a:rPr>
              <a:t>ftm-fastapi</a:t>
            </a:r>
            <a:endParaRPr lang="en-US" sz="900" dirty="0"/>
          </a:p>
        </p:txBody>
      </p:sp>
      <p:sp>
        <p:nvSpPr>
          <p:cNvPr id="34" name="Text 6">
            <a:extLst>
              <a:ext uri="{FF2B5EF4-FFF2-40B4-BE49-F238E27FC236}">
                <a16:creationId xmlns:a16="http://schemas.microsoft.com/office/drawing/2014/main" id="{A01BABE2-0566-0C26-8403-32CD8A11150B}"/>
              </a:ext>
            </a:extLst>
          </p:cNvPr>
          <p:cNvSpPr/>
          <p:nvPr/>
        </p:nvSpPr>
        <p:spPr>
          <a:xfrm>
            <a:off x="713921" y="3183818"/>
            <a:ext cx="2011680" cy="182880"/>
          </a:xfrm>
          <a:prstGeom prst="rect">
            <a:avLst/>
          </a:prstGeom>
          <a:noFill/>
          <a:ln/>
        </p:spPr>
        <p:txBody>
          <a:bodyPr wrap="square" lIns="0" tIns="0" rIns="0" bIns="0" rtlCol="0" anchor="ctr"/>
          <a:lstStyle/>
          <a:p>
            <a:pPr marL="0" indent="0">
              <a:buNone/>
            </a:pPr>
            <a:r>
              <a:rPr lang="en-US" sz="800" dirty="0">
                <a:solidFill>
                  <a:srgbClr val="10B981"/>
                </a:solidFill>
                <a:latin typeface="Calibri" pitchFamily="34" charset="0"/>
                <a:ea typeface="Calibri" pitchFamily="34" charset="-122"/>
                <a:cs typeface="Calibri" pitchFamily="34" charset="-120"/>
              </a:rPr>
              <a:t>active</a:t>
            </a:r>
            <a:endParaRPr lang="en-US" sz="800" dirty="0"/>
          </a:p>
        </p:txBody>
      </p:sp>
      <p:sp>
        <p:nvSpPr>
          <p:cNvPr id="39" name="Shape 4">
            <a:extLst>
              <a:ext uri="{FF2B5EF4-FFF2-40B4-BE49-F238E27FC236}">
                <a16:creationId xmlns:a16="http://schemas.microsoft.com/office/drawing/2014/main" id="{D56A047E-FB31-823D-10E4-FBE12C202F5A}"/>
              </a:ext>
            </a:extLst>
          </p:cNvPr>
          <p:cNvSpPr/>
          <p:nvPr/>
        </p:nvSpPr>
        <p:spPr>
          <a:xfrm>
            <a:off x="6318504" y="2293407"/>
            <a:ext cx="2221991" cy="594360"/>
          </a:xfrm>
          <a:prstGeom prst="snip2DiagRect">
            <a:avLst/>
          </a:prstGeom>
          <a:solidFill>
            <a:srgbClr val="162540"/>
          </a:solidFill>
          <a:ln w="12700">
            <a:solidFill>
              <a:srgbClr val="0891B2"/>
            </a:solidFill>
            <a:prstDash val="solid"/>
          </a:ln>
        </p:spPr>
        <p:txBody>
          <a:bodyPr/>
          <a:lstStyle/>
          <a:p>
            <a:endParaRPr lang="en-US">
              <a:solidFill>
                <a:srgbClr val="64748B"/>
              </a:solidFill>
            </a:endParaRPr>
          </a:p>
        </p:txBody>
      </p:sp>
      <p:pic>
        <p:nvPicPr>
          <p:cNvPr id="40" name="Image 0" descr="preencoded.png">
            <a:extLst>
              <a:ext uri="{FF2B5EF4-FFF2-40B4-BE49-F238E27FC236}">
                <a16:creationId xmlns:a16="http://schemas.microsoft.com/office/drawing/2014/main" id="{0CA49B34-F423-557E-DC60-F275868A08DB}"/>
              </a:ext>
            </a:extLst>
          </p:cNvPr>
          <p:cNvPicPr>
            <a:picLocks noChangeAspect="1"/>
          </p:cNvPicPr>
          <p:nvPr/>
        </p:nvPicPr>
        <p:blipFill>
          <a:blip r:embed="rId3"/>
          <a:stretch>
            <a:fillRect/>
          </a:stretch>
        </p:blipFill>
        <p:spPr>
          <a:xfrm>
            <a:off x="6428233" y="2453426"/>
            <a:ext cx="274320" cy="274320"/>
          </a:xfrm>
          <a:prstGeom prst="rect">
            <a:avLst/>
          </a:prstGeom>
        </p:spPr>
      </p:pic>
      <p:sp>
        <p:nvSpPr>
          <p:cNvPr id="41" name="Text 5">
            <a:extLst>
              <a:ext uri="{FF2B5EF4-FFF2-40B4-BE49-F238E27FC236}">
                <a16:creationId xmlns:a16="http://schemas.microsoft.com/office/drawing/2014/main" id="{6DB1DBA7-D217-F092-CFB9-0BF2F32999CC}"/>
              </a:ext>
            </a:extLst>
          </p:cNvPr>
          <p:cNvSpPr/>
          <p:nvPr/>
        </p:nvSpPr>
        <p:spPr>
          <a:xfrm>
            <a:off x="6812281" y="2293407"/>
            <a:ext cx="1517904" cy="594360"/>
          </a:xfrm>
          <a:prstGeom prst="rect">
            <a:avLst/>
          </a:prstGeom>
          <a:noFill/>
          <a:ln/>
        </p:spPr>
        <p:txBody>
          <a:bodyPr wrap="square" lIns="0" tIns="0" rIns="0" bIns="0" rtlCol="0" anchor="ctr"/>
          <a:lstStyle/>
          <a:p>
            <a:pPr marL="0" indent="0">
              <a:lnSpc>
                <a:spcPct val="130000"/>
              </a:lnSpc>
              <a:buNone/>
            </a:pPr>
            <a:r>
              <a:rPr lang="en-US" sz="900" dirty="0">
                <a:solidFill>
                  <a:srgbClr val="64748B"/>
                </a:solidFill>
                <a:latin typeface="Consolas" pitchFamily="34" charset="0"/>
                <a:ea typeface="Consolas" pitchFamily="34" charset="-122"/>
                <a:cs typeface="Consolas" pitchFamily="34" charset="-120"/>
              </a:rPr>
              <a:t>codectx-legacy-</a:t>
            </a:r>
            <a:r>
              <a:rPr lang="en-US" sz="900" dirty="0" err="1">
                <a:solidFill>
                  <a:srgbClr val="64748B"/>
                </a:solidFill>
                <a:latin typeface="Consolas" pitchFamily="34" charset="0"/>
                <a:ea typeface="Consolas" pitchFamily="34" charset="-122"/>
                <a:cs typeface="Consolas" pitchFamily="34" charset="-120"/>
              </a:rPr>
              <a:t>api</a:t>
            </a:r>
            <a:endParaRPr lang="en-US" sz="900" dirty="0">
              <a:solidFill>
                <a:srgbClr val="64748B"/>
              </a:solidFill>
            </a:endParaRPr>
          </a:p>
        </p:txBody>
      </p:sp>
      <p:sp>
        <p:nvSpPr>
          <p:cNvPr id="42" name="Text 6">
            <a:extLst>
              <a:ext uri="{FF2B5EF4-FFF2-40B4-BE49-F238E27FC236}">
                <a16:creationId xmlns:a16="http://schemas.microsoft.com/office/drawing/2014/main" id="{592CE7EC-BD65-F0B2-24B6-574A019E7E35}"/>
              </a:ext>
            </a:extLst>
          </p:cNvPr>
          <p:cNvSpPr/>
          <p:nvPr/>
        </p:nvSpPr>
        <p:spPr>
          <a:xfrm>
            <a:off x="6318505" y="2110527"/>
            <a:ext cx="2011680" cy="18288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inactive</a:t>
            </a:r>
            <a:endParaRPr lang="en-US" sz="800" dirty="0">
              <a:solidFill>
                <a:srgbClr val="64748B"/>
              </a:solidFill>
            </a:endParaRPr>
          </a:p>
        </p:txBody>
      </p:sp>
      <p:sp>
        <p:nvSpPr>
          <p:cNvPr id="43" name="Shape 4">
            <a:extLst>
              <a:ext uri="{FF2B5EF4-FFF2-40B4-BE49-F238E27FC236}">
                <a16:creationId xmlns:a16="http://schemas.microsoft.com/office/drawing/2014/main" id="{AA480776-E670-F495-4883-3892DB186824}"/>
              </a:ext>
            </a:extLst>
          </p:cNvPr>
          <p:cNvSpPr/>
          <p:nvPr/>
        </p:nvSpPr>
        <p:spPr>
          <a:xfrm>
            <a:off x="6318504" y="3329514"/>
            <a:ext cx="2221991" cy="594360"/>
          </a:xfrm>
          <a:prstGeom prst="snip2DiagRect">
            <a:avLst/>
          </a:prstGeom>
          <a:solidFill>
            <a:srgbClr val="162540"/>
          </a:solidFill>
          <a:ln w="12700">
            <a:solidFill>
              <a:srgbClr val="0891B2"/>
            </a:solidFill>
            <a:prstDash val="solid"/>
          </a:ln>
        </p:spPr>
        <p:txBody>
          <a:bodyPr/>
          <a:lstStyle/>
          <a:p>
            <a:endParaRPr lang="en-US">
              <a:solidFill>
                <a:srgbClr val="64748B"/>
              </a:solidFill>
            </a:endParaRPr>
          </a:p>
        </p:txBody>
      </p:sp>
      <p:pic>
        <p:nvPicPr>
          <p:cNvPr id="44" name="Image 0" descr="preencoded.png">
            <a:extLst>
              <a:ext uri="{FF2B5EF4-FFF2-40B4-BE49-F238E27FC236}">
                <a16:creationId xmlns:a16="http://schemas.microsoft.com/office/drawing/2014/main" id="{43894D71-764A-F996-A4A3-9292A1DE5BDF}"/>
              </a:ext>
            </a:extLst>
          </p:cNvPr>
          <p:cNvPicPr>
            <a:picLocks noChangeAspect="1"/>
          </p:cNvPicPr>
          <p:nvPr/>
        </p:nvPicPr>
        <p:blipFill>
          <a:blip r:embed="rId3"/>
          <a:stretch>
            <a:fillRect/>
          </a:stretch>
        </p:blipFill>
        <p:spPr>
          <a:xfrm>
            <a:off x="6428233" y="3489533"/>
            <a:ext cx="274320" cy="274320"/>
          </a:xfrm>
          <a:prstGeom prst="rect">
            <a:avLst/>
          </a:prstGeom>
        </p:spPr>
      </p:pic>
      <p:sp>
        <p:nvSpPr>
          <p:cNvPr id="45" name="Text 5">
            <a:extLst>
              <a:ext uri="{FF2B5EF4-FFF2-40B4-BE49-F238E27FC236}">
                <a16:creationId xmlns:a16="http://schemas.microsoft.com/office/drawing/2014/main" id="{1D069DF2-6E44-2E32-AF5A-9C6A404CF504}"/>
              </a:ext>
            </a:extLst>
          </p:cNvPr>
          <p:cNvSpPr/>
          <p:nvPr/>
        </p:nvSpPr>
        <p:spPr>
          <a:xfrm>
            <a:off x="6812280" y="3329514"/>
            <a:ext cx="1627633" cy="594360"/>
          </a:xfrm>
          <a:prstGeom prst="rect">
            <a:avLst/>
          </a:prstGeom>
          <a:noFill/>
          <a:ln/>
        </p:spPr>
        <p:txBody>
          <a:bodyPr wrap="square" lIns="0" tIns="0" rIns="0" bIns="0" rtlCol="0" anchor="ctr"/>
          <a:lstStyle/>
          <a:p>
            <a:pPr marL="0" indent="0">
              <a:lnSpc>
                <a:spcPct val="130000"/>
              </a:lnSpc>
              <a:buNone/>
            </a:pPr>
            <a:r>
              <a:rPr lang="en-US" sz="900" dirty="0" err="1">
                <a:solidFill>
                  <a:srgbClr val="64748B"/>
                </a:solidFill>
                <a:latin typeface="Consolas" pitchFamily="34" charset="0"/>
                <a:ea typeface="Consolas" pitchFamily="34" charset="-122"/>
                <a:cs typeface="Consolas" pitchFamily="34" charset="-120"/>
              </a:rPr>
              <a:t>codectx</a:t>
            </a:r>
            <a:r>
              <a:rPr lang="en-US" sz="900" dirty="0">
                <a:solidFill>
                  <a:srgbClr val="64748B"/>
                </a:solidFill>
                <a:latin typeface="Consolas" pitchFamily="34" charset="0"/>
                <a:ea typeface="Consolas" pitchFamily="34" charset="-122"/>
                <a:cs typeface="Consolas" pitchFamily="34" charset="-120"/>
              </a:rPr>
              <a:t>-legacy-framework</a:t>
            </a:r>
            <a:endParaRPr lang="en-US" sz="900" dirty="0">
              <a:solidFill>
                <a:srgbClr val="64748B"/>
              </a:solidFill>
            </a:endParaRPr>
          </a:p>
        </p:txBody>
      </p:sp>
      <p:sp>
        <p:nvSpPr>
          <p:cNvPr id="46" name="Text 6">
            <a:extLst>
              <a:ext uri="{FF2B5EF4-FFF2-40B4-BE49-F238E27FC236}">
                <a16:creationId xmlns:a16="http://schemas.microsoft.com/office/drawing/2014/main" id="{90F38BAB-68C7-0B91-CBF7-CEDC8610AD38}"/>
              </a:ext>
            </a:extLst>
          </p:cNvPr>
          <p:cNvSpPr/>
          <p:nvPr/>
        </p:nvSpPr>
        <p:spPr>
          <a:xfrm>
            <a:off x="6318505" y="3146634"/>
            <a:ext cx="2011680" cy="182880"/>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inactive</a:t>
            </a:r>
            <a:endParaRPr lang="en-US" sz="800" dirty="0">
              <a:solidFill>
                <a:srgbClr val="64748B"/>
              </a:solidFill>
            </a:endParaRPr>
          </a:p>
        </p:txBody>
      </p:sp>
      <p:cxnSp>
        <p:nvCxnSpPr>
          <p:cNvPr id="60" name="Curved Connector 59">
            <a:extLst>
              <a:ext uri="{FF2B5EF4-FFF2-40B4-BE49-F238E27FC236}">
                <a16:creationId xmlns:a16="http://schemas.microsoft.com/office/drawing/2014/main" id="{0DAE0D05-7730-5A92-268F-FE7DDE6C8532}"/>
              </a:ext>
            </a:extLst>
          </p:cNvPr>
          <p:cNvCxnSpPr>
            <a:stCxn id="6" idx="0"/>
            <a:endCxn id="4" idx="2"/>
          </p:cNvCxnSpPr>
          <p:nvPr/>
        </p:nvCxnSpPr>
        <p:spPr>
          <a:xfrm>
            <a:off x="2935911" y="1672966"/>
            <a:ext cx="891196" cy="958026"/>
          </a:xfrm>
          <a:prstGeom prst="curvedConnector3">
            <a:avLst/>
          </a:prstGeom>
          <a:ln w="25400"/>
        </p:spPr>
        <p:style>
          <a:lnRef idx="1">
            <a:schemeClr val="accent1"/>
          </a:lnRef>
          <a:fillRef idx="0">
            <a:schemeClr val="accent1"/>
          </a:fillRef>
          <a:effectRef idx="0">
            <a:schemeClr val="accent1"/>
          </a:effectRef>
          <a:fontRef idx="minor">
            <a:schemeClr val="tx1"/>
          </a:fontRef>
        </p:style>
      </p:cxnSp>
      <p:cxnSp>
        <p:nvCxnSpPr>
          <p:cNvPr id="64" name="Curved Connector 63">
            <a:extLst>
              <a:ext uri="{FF2B5EF4-FFF2-40B4-BE49-F238E27FC236}">
                <a16:creationId xmlns:a16="http://schemas.microsoft.com/office/drawing/2014/main" id="{9A78CFBD-FAA2-CDFE-C0B4-EFE40C456D20}"/>
              </a:ext>
            </a:extLst>
          </p:cNvPr>
          <p:cNvCxnSpPr>
            <a:cxnSpLocks/>
            <a:stCxn id="31" idx="0"/>
            <a:endCxn id="4" idx="2"/>
          </p:cNvCxnSpPr>
          <p:nvPr/>
        </p:nvCxnSpPr>
        <p:spPr>
          <a:xfrm flipV="1">
            <a:off x="2935911" y="2630992"/>
            <a:ext cx="891196" cy="1032886"/>
          </a:xfrm>
          <a:prstGeom prst="curvedConnector3">
            <a:avLst/>
          </a:prstGeom>
          <a:ln w="25400"/>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3A3639B8-F85F-0BF0-5469-162BD7A5B7E1}"/>
              </a:ext>
            </a:extLst>
          </p:cNvPr>
          <p:cNvCxnSpPr>
            <a:stCxn id="27" idx="0"/>
            <a:endCxn id="4" idx="2"/>
          </p:cNvCxnSpPr>
          <p:nvPr/>
        </p:nvCxnSpPr>
        <p:spPr>
          <a:xfrm flipV="1">
            <a:off x="2936599" y="2630992"/>
            <a:ext cx="890508" cy="4509"/>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9" name="Curved Connector 68">
            <a:extLst>
              <a:ext uri="{FF2B5EF4-FFF2-40B4-BE49-F238E27FC236}">
                <a16:creationId xmlns:a16="http://schemas.microsoft.com/office/drawing/2014/main" id="{4DA45486-398A-81DC-1C65-208905870F63}"/>
              </a:ext>
            </a:extLst>
          </p:cNvPr>
          <p:cNvCxnSpPr>
            <a:stCxn id="23" idx="2"/>
            <a:endCxn id="5" idx="3"/>
          </p:cNvCxnSpPr>
          <p:nvPr/>
        </p:nvCxnSpPr>
        <p:spPr>
          <a:xfrm rot="10800000" flipV="1">
            <a:off x="5427308" y="1677151"/>
            <a:ext cx="891197" cy="916492"/>
          </a:xfrm>
          <a:prstGeom prst="curvedConnector3">
            <a:avLst/>
          </a:prstGeom>
          <a:ln w="25400"/>
        </p:spPr>
        <p:style>
          <a:lnRef idx="1">
            <a:schemeClr val="accent1"/>
          </a:lnRef>
          <a:fillRef idx="0">
            <a:schemeClr val="accent1"/>
          </a:fillRef>
          <a:effectRef idx="0">
            <a:schemeClr val="accent1"/>
          </a:effectRef>
          <a:fontRef idx="minor">
            <a:schemeClr val="tx1"/>
          </a:fontRef>
        </p:style>
      </p:cxnSp>
      <p:cxnSp>
        <p:nvCxnSpPr>
          <p:cNvPr id="71" name="Curved Connector 70">
            <a:extLst>
              <a:ext uri="{FF2B5EF4-FFF2-40B4-BE49-F238E27FC236}">
                <a16:creationId xmlns:a16="http://schemas.microsoft.com/office/drawing/2014/main" id="{C8734373-4E07-A105-4AC9-D563ECFE9526}"/>
              </a:ext>
            </a:extLst>
          </p:cNvPr>
          <p:cNvCxnSpPr>
            <a:stCxn id="43" idx="2"/>
            <a:endCxn id="5" idx="3"/>
          </p:cNvCxnSpPr>
          <p:nvPr/>
        </p:nvCxnSpPr>
        <p:spPr>
          <a:xfrm rot="10800000">
            <a:off x="5427308" y="2593644"/>
            <a:ext cx="891197" cy="1033051"/>
          </a:xfrm>
          <a:prstGeom prst="curvedConnector3">
            <a:avLst/>
          </a:prstGeom>
          <a:ln w="2540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05DC6048-0D66-EE0F-3291-A6D6BC1FE7D8}"/>
              </a:ext>
            </a:extLst>
          </p:cNvPr>
          <p:cNvCxnSpPr>
            <a:stCxn id="39" idx="2"/>
            <a:endCxn id="5" idx="3"/>
          </p:cNvCxnSpPr>
          <p:nvPr/>
        </p:nvCxnSpPr>
        <p:spPr>
          <a:xfrm flipH="1">
            <a:off x="5427307" y="2590587"/>
            <a:ext cx="891197" cy="3056"/>
          </a:xfrm>
          <a:prstGeom prst="line">
            <a:avLst/>
          </a:prstGeom>
          <a:ln w="25400">
            <a:solidFill>
              <a:schemeClr val="tx1">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731520" y="274320"/>
            <a:ext cx="7680960" cy="548640"/>
          </a:xfrm>
          <a:prstGeom prst="rect">
            <a:avLst/>
          </a:prstGeom>
          <a:noFill/>
          <a:ln/>
        </p:spPr>
        <p:txBody>
          <a:bodyPr wrap="square" lIns="0" tIns="0" rIns="0" bIns="0" rtlCol="0" anchor="ctr"/>
          <a:lstStyle/>
          <a:p>
            <a:pPr marL="0" indent="0">
              <a:buNone/>
            </a:pPr>
            <a:r>
              <a:rPr lang="en-US" sz="2800" b="1" dirty="0">
                <a:solidFill>
                  <a:srgbClr val="0F1B2D"/>
                </a:solidFill>
                <a:latin typeface="Trebuchet MS" pitchFamily="34" charset="0"/>
                <a:ea typeface="Trebuchet MS" pitchFamily="34" charset="-122"/>
                <a:cs typeface="Trebuchet MS" pitchFamily="34" charset="-120"/>
              </a:rPr>
              <a:t>Resumable AI-Driven Development</a:t>
            </a:r>
            <a:endParaRPr lang="en-US" sz="2800" dirty="0"/>
          </a:p>
        </p:txBody>
      </p:sp>
      <p:sp>
        <p:nvSpPr>
          <p:cNvPr id="3" name="Text 1"/>
          <p:cNvSpPr/>
          <p:nvPr/>
        </p:nvSpPr>
        <p:spPr>
          <a:xfrm>
            <a:off x="731520" y="777240"/>
            <a:ext cx="7315200" cy="320040"/>
          </a:xfrm>
          <a:prstGeom prst="rect">
            <a:avLst/>
          </a:prstGeom>
          <a:noFill/>
          <a:ln/>
        </p:spPr>
        <p:txBody>
          <a:bodyPr wrap="square" lIns="0" tIns="0" rIns="0" bIns="0" rtlCol="0" anchor="ctr"/>
          <a:lstStyle/>
          <a:p>
            <a:pPr marL="0" indent="0">
              <a:buNone/>
            </a:pPr>
            <a:r>
              <a:rPr lang="en-US" sz="1400" dirty="0">
                <a:solidFill>
                  <a:srgbClr val="64748B"/>
                </a:solidFill>
                <a:latin typeface="Calibri" pitchFamily="34" charset="0"/>
                <a:ea typeface="Calibri" pitchFamily="34" charset="-122"/>
                <a:cs typeface="Calibri" pitchFamily="34" charset="-120"/>
              </a:rPr>
              <a:t>Plans track state so the AI never loses its place</a:t>
            </a:r>
            <a:endParaRPr lang="en-US" sz="1400" dirty="0"/>
          </a:p>
        </p:txBody>
      </p:sp>
      <p:sp>
        <p:nvSpPr>
          <p:cNvPr id="4" name="Shape 2"/>
          <p:cNvSpPr/>
          <p:nvPr/>
        </p:nvSpPr>
        <p:spPr>
          <a:xfrm>
            <a:off x="731520" y="1783080"/>
            <a:ext cx="7680960" cy="0"/>
          </a:xfrm>
          <a:prstGeom prst="line">
            <a:avLst/>
          </a:prstGeom>
          <a:noFill/>
          <a:ln w="25400">
            <a:solidFill>
              <a:srgbClr val="94A3B8"/>
            </a:solidFill>
            <a:prstDash val="solid"/>
          </a:ln>
        </p:spPr>
        <p:txBody>
          <a:bodyPr/>
          <a:lstStyle/>
          <a:p>
            <a:endParaRPr lang="en-US"/>
          </a:p>
        </p:txBody>
      </p:sp>
      <p:sp>
        <p:nvSpPr>
          <p:cNvPr id="5" name="Shape 3"/>
          <p:cNvSpPr/>
          <p:nvPr/>
        </p:nvSpPr>
        <p:spPr>
          <a:xfrm>
            <a:off x="1097280" y="1554480"/>
            <a:ext cx="457200" cy="457200"/>
          </a:xfrm>
          <a:prstGeom prst="ellipse">
            <a:avLst/>
          </a:prstGeom>
          <a:solidFill>
            <a:srgbClr val="10B981"/>
          </a:solidFill>
          <a:ln/>
        </p:spPr>
        <p:txBody>
          <a:bodyPr/>
          <a:lstStyle/>
          <a:p>
            <a:endParaRPr lang="en-US"/>
          </a:p>
        </p:txBody>
      </p:sp>
      <p:sp>
        <p:nvSpPr>
          <p:cNvPr id="6" name="Text 4"/>
          <p:cNvSpPr/>
          <p:nvPr/>
        </p:nvSpPr>
        <p:spPr>
          <a:xfrm>
            <a:off x="1097280" y="15544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5"/>
          <p:cNvSpPr/>
          <p:nvPr/>
        </p:nvSpPr>
        <p:spPr>
          <a:xfrm>
            <a:off x="731520" y="2103120"/>
            <a:ext cx="1188720" cy="320040"/>
          </a:xfrm>
          <a:prstGeom prst="rect">
            <a:avLst/>
          </a:prstGeom>
          <a:noFill/>
          <a:ln/>
        </p:spPr>
        <p:txBody>
          <a:bodyPr wrap="square" lIns="0" tIns="0" rIns="0" bIns="0" rtlCol="0" anchor="ctr"/>
          <a:lstStyle/>
          <a:p>
            <a:pPr marL="0" indent="0" algn="ctr">
              <a:buNone/>
            </a:pPr>
            <a:r>
              <a:rPr lang="en-US" sz="1000" dirty="0">
                <a:solidFill>
                  <a:srgbClr val="0F1B2D"/>
                </a:solidFill>
                <a:latin typeface="Calibri" pitchFamily="34" charset="0"/>
                <a:ea typeface="Calibri" pitchFamily="34" charset="-122"/>
                <a:cs typeface="Calibri" pitchFamily="34" charset="-120"/>
              </a:rPr>
              <a:t>Audit JWT</a:t>
            </a:r>
            <a:endParaRPr lang="en-US" sz="1000" dirty="0"/>
          </a:p>
        </p:txBody>
      </p:sp>
      <p:sp>
        <p:nvSpPr>
          <p:cNvPr id="8" name="Shape 6"/>
          <p:cNvSpPr/>
          <p:nvPr/>
        </p:nvSpPr>
        <p:spPr>
          <a:xfrm>
            <a:off x="2834640" y="1554480"/>
            <a:ext cx="457200" cy="457200"/>
          </a:xfrm>
          <a:prstGeom prst="ellipse">
            <a:avLst/>
          </a:prstGeom>
          <a:solidFill>
            <a:srgbClr val="10B981"/>
          </a:solidFill>
          <a:ln/>
        </p:spPr>
        <p:txBody>
          <a:bodyPr/>
          <a:lstStyle/>
          <a:p>
            <a:endParaRPr lang="en-US"/>
          </a:p>
        </p:txBody>
      </p:sp>
      <p:sp>
        <p:nvSpPr>
          <p:cNvPr id="9" name="Text 7"/>
          <p:cNvSpPr/>
          <p:nvPr/>
        </p:nvSpPr>
        <p:spPr>
          <a:xfrm>
            <a:off x="2834640" y="15544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0" name="Text 8"/>
          <p:cNvSpPr/>
          <p:nvPr/>
        </p:nvSpPr>
        <p:spPr>
          <a:xfrm>
            <a:off x="2468880" y="2103120"/>
            <a:ext cx="1188720" cy="320040"/>
          </a:xfrm>
          <a:prstGeom prst="rect">
            <a:avLst/>
          </a:prstGeom>
          <a:noFill/>
          <a:ln/>
        </p:spPr>
        <p:txBody>
          <a:bodyPr wrap="square" lIns="0" tIns="0" rIns="0" bIns="0" rtlCol="0" anchor="ctr"/>
          <a:lstStyle/>
          <a:p>
            <a:pPr marL="0" indent="0" algn="ctr">
              <a:buNone/>
            </a:pPr>
            <a:r>
              <a:rPr lang="en-US" sz="1000" dirty="0">
                <a:solidFill>
                  <a:srgbClr val="0F1B2D"/>
                </a:solidFill>
                <a:latin typeface="Calibri" pitchFamily="34" charset="0"/>
                <a:ea typeface="Calibri" pitchFamily="34" charset="-122"/>
                <a:cs typeface="Calibri" pitchFamily="34" charset="-120"/>
              </a:rPr>
              <a:t>Design Schema</a:t>
            </a:r>
            <a:endParaRPr lang="en-US" sz="1000" dirty="0"/>
          </a:p>
        </p:txBody>
      </p:sp>
      <p:sp>
        <p:nvSpPr>
          <p:cNvPr id="11" name="Shape 9"/>
          <p:cNvSpPr/>
          <p:nvPr/>
        </p:nvSpPr>
        <p:spPr>
          <a:xfrm>
            <a:off x="4572000" y="1554480"/>
            <a:ext cx="457200" cy="457200"/>
          </a:xfrm>
          <a:prstGeom prst="ellipse">
            <a:avLst/>
          </a:prstGeom>
          <a:solidFill>
            <a:srgbClr val="0891B2"/>
          </a:solidFill>
          <a:ln/>
        </p:spPr>
        <p:txBody>
          <a:bodyPr/>
          <a:lstStyle/>
          <a:p>
            <a:endParaRPr lang="en-US"/>
          </a:p>
        </p:txBody>
      </p:sp>
      <p:sp>
        <p:nvSpPr>
          <p:cNvPr id="12" name="Text 10"/>
          <p:cNvSpPr/>
          <p:nvPr/>
        </p:nvSpPr>
        <p:spPr>
          <a:xfrm>
            <a:off x="4572000" y="155448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3" name="Text 11"/>
          <p:cNvSpPr/>
          <p:nvPr/>
        </p:nvSpPr>
        <p:spPr>
          <a:xfrm>
            <a:off x="4206240" y="2103120"/>
            <a:ext cx="1188720" cy="320040"/>
          </a:xfrm>
          <a:prstGeom prst="rect">
            <a:avLst/>
          </a:prstGeom>
          <a:noFill/>
          <a:ln/>
        </p:spPr>
        <p:txBody>
          <a:bodyPr wrap="square" lIns="0" tIns="0" rIns="0" bIns="0" rtlCol="0" anchor="ctr"/>
          <a:lstStyle/>
          <a:p>
            <a:pPr marL="0" indent="0" algn="ctr">
              <a:buNone/>
            </a:pPr>
            <a:r>
              <a:rPr lang="en-US" sz="1000" b="1" dirty="0">
                <a:solidFill>
                  <a:srgbClr val="0F1B2D"/>
                </a:solidFill>
                <a:latin typeface="Calibri" pitchFamily="34" charset="0"/>
                <a:ea typeface="Calibri" pitchFamily="34" charset="-122"/>
                <a:cs typeface="Calibri" pitchFamily="34" charset="-120"/>
              </a:rPr>
              <a:t>Refactor Service</a:t>
            </a:r>
            <a:endParaRPr lang="en-US" sz="1000" dirty="0"/>
          </a:p>
        </p:txBody>
      </p:sp>
      <p:sp>
        <p:nvSpPr>
          <p:cNvPr id="14" name="Shape 12"/>
          <p:cNvSpPr/>
          <p:nvPr/>
        </p:nvSpPr>
        <p:spPr>
          <a:xfrm>
            <a:off x="6309360" y="1554480"/>
            <a:ext cx="457200" cy="457200"/>
          </a:xfrm>
          <a:prstGeom prst="ellipse">
            <a:avLst/>
          </a:prstGeom>
          <a:solidFill>
            <a:srgbClr val="94A3B8"/>
          </a:solidFill>
          <a:ln/>
        </p:spPr>
        <p:txBody>
          <a:bodyPr/>
          <a:lstStyle/>
          <a:p>
            <a:endParaRPr lang="en-US"/>
          </a:p>
        </p:txBody>
      </p:sp>
      <p:sp>
        <p:nvSpPr>
          <p:cNvPr id="15" name="Text 13"/>
          <p:cNvSpPr/>
          <p:nvPr/>
        </p:nvSpPr>
        <p:spPr>
          <a:xfrm>
            <a:off x="6309360" y="1554480"/>
            <a:ext cx="457200" cy="457200"/>
          </a:xfrm>
          <a:prstGeom prst="rect">
            <a:avLst/>
          </a:prstGeom>
          <a:noFill/>
          <a:ln/>
        </p:spPr>
        <p:txBody>
          <a:bodyPr wrap="square" lIns="0" tIns="0" rIns="0" bIns="0" rtlCol="0" anchor="ctr"/>
          <a:lstStyle/>
          <a:p>
            <a:pPr marL="0" indent="0" algn="ctr">
              <a:buNone/>
            </a:pPr>
            <a:endParaRPr lang="en-US" sz="1400" dirty="0"/>
          </a:p>
        </p:txBody>
      </p:sp>
      <p:sp>
        <p:nvSpPr>
          <p:cNvPr id="16" name="Text 14"/>
          <p:cNvSpPr/>
          <p:nvPr/>
        </p:nvSpPr>
        <p:spPr>
          <a:xfrm>
            <a:off x="5943600" y="2103120"/>
            <a:ext cx="1188720" cy="32004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Testing</a:t>
            </a:r>
            <a:endParaRPr lang="en-US" sz="1000" dirty="0"/>
          </a:p>
        </p:txBody>
      </p:sp>
      <p:sp>
        <p:nvSpPr>
          <p:cNvPr id="17" name="Shape 15"/>
          <p:cNvSpPr/>
          <p:nvPr/>
        </p:nvSpPr>
        <p:spPr>
          <a:xfrm>
            <a:off x="8046720" y="1554480"/>
            <a:ext cx="457200" cy="457200"/>
          </a:xfrm>
          <a:prstGeom prst="ellipse">
            <a:avLst/>
          </a:prstGeom>
          <a:solidFill>
            <a:srgbClr val="94A3B8"/>
          </a:solidFill>
          <a:ln/>
        </p:spPr>
        <p:txBody>
          <a:bodyPr/>
          <a:lstStyle/>
          <a:p>
            <a:endParaRPr lang="en-US"/>
          </a:p>
        </p:txBody>
      </p:sp>
      <p:sp>
        <p:nvSpPr>
          <p:cNvPr id="18" name="Text 16"/>
          <p:cNvSpPr/>
          <p:nvPr/>
        </p:nvSpPr>
        <p:spPr>
          <a:xfrm>
            <a:off x="8046720" y="1554480"/>
            <a:ext cx="457200" cy="457200"/>
          </a:xfrm>
          <a:prstGeom prst="rect">
            <a:avLst/>
          </a:prstGeom>
          <a:noFill/>
          <a:ln/>
        </p:spPr>
        <p:txBody>
          <a:bodyPr wrap="square" lIns="0" tIns="0" rIns="0" bIns="0" rtlCol="0" anchor="ctr"/>
          <a:lstStyle/>
          <a:p>
            <a:pPr marL="0" indent="0" algn="ctr">
              <a:buNone/>
            </a:pPr>
            <a:endParaRPr lang="en-US" sz="1400" dirty="0"/>
          </a:p>
        </p:txBody>
      </p:sp>
      <p:sp>
        <p:nvSpPr>
          <p:cNvPr id="19" name="Text 17"/>
          <p:cNvSpPr/>
          <p:nvPr/>
        </p:nvSpPr>
        <p:spPr>
          <a:xfrm>
            <a:off x="7680960" y="2103120"/>
            <a:ext cx="1188720" cy="32004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Rollout</a:t>
            </a:r>
            <a:endParaRPr lang="en-US" sz="1000" dirty="0"/>
          </a:p>
        </p:txBody>
      </p:sp>
      <p:sp>
        <p:nvSpPr>
          <p:cNvPr id="20" name="Shape 18"/>
          <p:cNvSpPr/>
          <p:nvPr/>
        </p:nvSpPr>
        <p:spPr>
          <a:xfrm>
            <a:off x="457200" y="2743200"/>
            <a:ext cx="3840480" cy="1645920"/>
          </a:xfrm>
          <a:prstGeom prst="rect">
            <a:avLst/>
          </a:prstGeom>
          <a:solidFill>
            <a:srgbClr val="FFFFFF"/>
          </a:solidFill>
          <a:ln/>
          <a:effectLst>
            <a:outerShdw blurRad="101600" dist="38100" dir="8100000" algn="bl" rotWithShape="0">
              <a:srgbClr val="000000">
                <a:alpha val="25000"/>
              </a:srgbClr>
            </a:outerShdw>
          </a:effectLst>
        </p:spPr>
        <p:txBody>
          <a:bodyPr/>
          <a:lstStyle/>
          <a:p>
            <a:endParaRPr lang="en-US"/>
          </a:p>
        </p:txBody>
      </p:sp>
      <p:sp>
        <p:nvSpPr>
          <p:cNvPr id="21" name="Shape 19"/>
          <p:cNvSpPr/>
          <p:nvPr/>
        </p:nvSpPr>
        <p:spPr>
          <a:xfrm>
            <a:off x="457200" y="2743200"/>
            <a:ext cx="3840480" cy="54864"/>
          </a:xfrm>
          <a:prstGeom prst="rect">
            <a:avLst/>
          </a:prstGeom>
          <a:solidFill>
            <a:srgbClr val="10B981"/>
          </a:solidFill>
          <a:ln/>
        </p:spPr>
        <p:txBody>
          <a:bodyPr/>
          <a:lstStyle/>
          <a:p>
            <a:endParaRPr lang="en-US"/>
          </a:p>
        </p:txBody>
      </p:sp>
      <p:pic>
        <p:nvPicPr>
          <p:cNvPr id="22" name="Image 0" descr="preencoded.png"/>
          <p:cNvPicPr>
            <a:picLocks noChangeAspect="1"/>
          </p:cNvPicPr>
          <p:nvPr/>
        </p:nvPicPr>
        <p:blipFill>
          <a:blip r:embed="rId3"/>
          <a:stretch>
            <a:fillRect/>
          </a:stretch>
        </p:blipFill>
        <p:spPr>
          <a:xfrm>
            <a:off x="685800" y="2971800"/>
            <a:ext cx="228600" cy="228600"/>
          </a:xfrm>
          <a:prstGeom prst="rect">
            <a:avLst/>
          </a:prstGeom>
        </p:spPr>
      </p:pic>
      <p:sp>
        <p:nvSpPr>
          <p:cNvPr id="23" name="Text 20"/>
          <p:cNvSpPr/>
          <p:nvPr/>
        </p:nvSpPr>
        <p:spPr>
          <a:xfrm>
            <a:off x="1005840" y="2944368"/>
            <a:ext cx="2743200" cy="274320"/>
          </a:xfrm>
          <a:prstGeom prst="rect">
            <a:avLst/>
          </a:prstGeom>
          <a:noFill/>
          <a:ln/>
        </p:spPr>
        <p:txBody>
          <a:bodyPr wrap="square" lIns="0" tIns="0" rIns="0" bIns="0" rtlCol="0" anchor="ctr"/>
          <a:lstStyle/>
          <a:p>
            <a:pPr marL="0" indent="0">
              <a:buNone/>
            </a:pPr>
            <a:r>
              <a:rPr lang="en-US" sz="1300" b="1" dirty="0">
                <a:solidFill>
                  <a:srgbClr val="0F1B2D"/>
                </a:solidFill>
                <a:latin typeface="Trebuchet MS" pitchFamily="34" charset="0"/>
                <a:ea typeface="Trebuchet MS" pitchFamily="34" charset="-122"/>
                <a:cs typeface="Trebuchet MS" pitchFamily="34" charset="-120"/>
              </a:rPr>
              <a:t>Hashes Match</a:t>
            </a:r>
            <a:endParaRPr lang="en-US" sz="1300" dirty="0"/>
          </a:p>
        </p:txBody>
      </p:sp>
      <p:sp>
        <p:nvSpPr>
          <p:cNvPr id="24" name="Text 21"/>
          <p:cNvSpPr/>
          <p:nvPr/>
        </p:nvSpPr>
        <p:spPr>
          <a:xfrm>
            <a:off x="685800" y="3291840"/>
            <a:ext cx="3383280" cy="914400"/>
          </a:xfrm>
          <a:prstGeom prst="rect">
            <a:avLst/>
          </a:prstGeom>
          <a:noFill/>
          <a:ln/>
        </p:spPr>
        <p:txBody>
          <a:bodyPr wrap="square" lIns="0" tIns="0" rIns="0" bIns="0" rtlCol="0" anchor="ctr"/>
          <a:lstStyle/>
          <a:p>
            <a:pPr marL="0" indent="0">
              <a:lnSpc>
                <a:spcPct val="150000"/>
              </a:lnSpc>
              <a:buNone/>
            </a:pPr>
            <a:r>
              <a:rPr lang="en-US" sz="1000" dirty="0">
                <a:solidFill>
                  <a:srgbClr val="334155"/>
                </a:solidFill>
                <a:latin typeface="Calibri" pitchFamily="34" charset="0"/>
                <a:ea typeface="Calibri" pitchFamily="34" charset="-122"/>
                <a:cs typeface="Calibri" pitchFamily="34" charset="-120"/>
              </a:rPr>
              <a:t>Documentation unchanged since last session.</a:t>
            </a:r>
            <a:endParaRPr lang="en-US" sz="1000" dirty="0"/>
          </a:p>
          <a:p>
            <a:pPr marL="0" indent="0">
              <a:lnSpc>
                <a:spcPct val="150000"/>
              </a:lnSpc>
              <a:buNone/>
            </a:pPr>
            <a:r>
              <a:rPr lang="en-US" sz="1000" dirty="0">
                <a:solidFill>
                  <a:srgbClr val="334155"/>
                </a:solidFill>
                <a:latin typeface="Calibri" pitchFamily="34" charset="0"/>
                <a:ea typeface="Calibri" pitchFamily="34" charset="-122"/>
                <a:cs typeface="Calibri" pitchFamily="34" charset="-120"/>
              </a:rPr>
              <a:t>Stored chunk IDs are replayed instantly.</a:t>
            </a:r>
            <a:endParaRPr lang="en-US" sz="1000" dirty="0"/>
          </a:p>
          <a:p>
            <a:pPr marL="0" indent="0">
              <a:lnSpc>
                <a:spcPct val="150000"/>
              </a:lnSpc>
              <a:buNone/>
            </a:pPr>
            <a:r>
              <a:rPr lang="en-US" sz="1000" dirty="0">
                <a:solidFill>
                  <a:srgbClr val="334155"/>
                </a:solidFill>
                <a:latin typeface="Calibri" pitchFamily="34" charset="0"/>
                <a:ea typeface="Calibri" pitchFamily="34" charset="-122"/>
                <a:cs typeface="Calibri" pitchFamily="34" charset="-120"/>
              </a:rPr>
              <a:t>Exact context reconstruction — zero search overhead.</a:t>
            </a:r>
            <a:endParaRPr lang="en-US" sz="1000" dirty="0"/>
          </a:p>
        </p:txBody>
      </p:sp>
      <p:sp>
        <p:nvSpPr>
          <p:cNvPr id="25" name="Shape 22"/>
          <p:cNvSpPr/>
          <p:nvPr/>
        </p:nvSpPr>
        <p:spPr>
          <a:xfrm>
            <a:off x="4846320" y="2743200"/>
            <a:ext cx="3840480" cy="1645920"/>
          </a:xfrm>
          <a:prstGeom prst="rect">
            <a:avLst/>
          </a:prstGeom>
          <a:solidFill>
            <a:srgbClr val="FFFFFF"/>
          </a:solidFill>
          <a:ln/>
          <a:effectLst>
            <a:outerShdw blurRad="101600" dist="38100" dir="8100000" algn="bl" rotWithShape="0">
              <a:srgbClr val="000000">
                <a:alpha val="25000"/>
              </a:srgbClr>
            </a:outerShdw>
          </a:effectLst>
        </p:spPr>
        <p:txBody>
          <a:bodyPr/>
          <a:lstStyle/>
          <a:p>
            <a:endParaRPr lang="en-US"/>
          </a:p>
        </p:txBody>
      </p:sp>
      <p:sp>
        <p:nvSpPr>
          <p:cNvPr id="26" name="Shape 23"/>
          <p:cNvSpPr/>
          <p:nvPr/>
        </p:nvSpPr>
        <p:spPr>
          <a:xfrm>
            <a:off x="4846320" y="2743200"/>
            <a:ext cx="3840480" cy="54864"/>
          </a:xfrm>
          <a:prstGeom prst="rect">
            <a:avLst/>
          </a:prstGeom>
          <a:solidFill>
            <a:srgbClr val="F59E0B"/>
          </a:solidFill>
          <a:ln/>
        </p:spPr>
        <p:txBody>
          <a:bodyPr/>
          <a:lstStyle/>
          <a:p>
            <a:endParaRPr lang="en-US"/>
          </a:p>
        </p:txBody>
      </p:sp>
      <p:pic>
        <p:nvPicPr>
          <p:cNvPr id="27" name="Image 1" descr="preencoded.png"/>
          <p:cNvPicPr>
            <a:picLocks noChangeAspect="1"/>
          </p:cNvPicPr>
          <p:nvPr/>
        </p:nvPicPr>
        <p:blipFill>
          <a:blip r:embed="rId4"/>
          <a:stretch>
            <a:fillRect/>
          </a:stretch>
        </p:blipFill>
        <p:spPr>
          <a:xfrm>
            <a:off x="5074920" y="2971800"/>
            <a:ext cx="228600" cy="228600"/>
          </a:xfrm>
          <a:prstGeom prst="rect">
            <a:avLst/>
          </a:prstGeom>
        </p:spPr>
      </p:pic>
      <p:sp>
        <p:nvSpPr>
          <p:cNvPr id="28" name="Text 24"/>
          <p:cNvSpPr/>
          <p:nvPr/>
        </p:nvSpPr>
        <p:spPr>
          <a:xfrm>
            <a:off x="5394960" y="2944368"/>
            <a:ext cx="2743200" cy="274320"/>
          </a:xfrm>
          <a:prstGeom prst="rect">
            <a:avLst/>
          </a:prstGeom>
          <a:noFill/>
          <a:ln/>
        </p:spPr>
        <p:txBody>
          <a:bodyPr wrap="square" lIns="0" tIns="0" rIns="0" bIns="0" rtlCol="0" anchor="ctr"/>
          <a:lstStyle/>
          <a:p>
            <a:pPr marL="0" indent="0">
              <a:buNone/>
            </a:pPr>
            <a:r>
              <a:rPr lang="en-US" sz="1300" b="1" dirty="0">
                <a:solidFill>
                  <a:srgbClr val="0F1B2D"/>
                </a:solidFill>
                <a:latin typeface="Trebuchet MS" pitchFamily="34" charset="0"/>
                <a:ea typeface="Trebuchet MS" pitchFamily="34" charset="-122"/>
                <a:cs typeface="Trebuchet MS" pitchFamily="34" charset="-120"/>
              </a:rPr>
              <a:t>Hashes Changed</a:t>
            </a:r>
            <a:endParaRPr lang="en-US" sz="1300" dirty="0"/>
          </a:p>
        </p:txBody>
      </p:sp>
      <p:sp>
        <p:nvSpPr>
          <p:cNvPr id="29" name="Text 25"/>
          <p:cNvSpPr/>
          <p:nvPr/>
        </p:nvSpPr>
        <p:spPr>
          <a:xfrm>
            <a:off x="5074920" y="3291840"/>
            <a:ext cx="3383280" cy="914400"/>
          </a:xfrm>
          <a:prstGeom prst="rect">
            <a:avLst/>
          </a:prstGeom>
          <a:noFill/>
          <a:ln/>
        </p:spPr>
        <p:txBody>
          <a:bodyPr wrap="square" lIns="0" tIns="0" rIns="0" bIns="0" rtlCol="0" anchor="ctr"/>
          <a:lstStyle/>
          <a:p>
            <a:pPr marL="0" indent="0">
              <a:lnSpc>
                <a:spcPct val="150000"/>
              </a:lnSpc>
              <a:buNone/>
            </a:pPr>
            <a:r>
              <a:rPr lang="en-US" sz="1000" dirty="0">
                <a:solidFill>
                  <a:srgbClr val="334155"/>
                </a:solidFill>
                <a:latin typeface="Calibri" pitchFamily="34" charset="0"/>
                <a:ea typeface="Calibri" pitchFamily="34" charset="-122"/>
                <a:cs typeface="Calibri" pitchFamily="34" charset="-120"/>
              </a:rPr>
              <a:t>Documentation updated since last session.</a:t>
            </a:r>
            <a:endParaRPr lang="en-US" sz="1000" dirty="0"/>
          </a:p>
          <a:p>
            <a:pPr marL="0" indent="0">
              <a:lnSpc>
                <a:spcPct val="150000"/>
              </a:lnSpc>
              <a:buNone/>
            </a:pPr>
            <a:r>
              <a:rPr lang="en-US" sz="1000" dirty="0">
                <a:solidFill>
                  <a:srgbClr val="334155"/>
                </a:solidFill>
                <a:latin typeface="Calibri" pitchFamily="34" charset="0"/>
                <a:ea typeface="Calibri" pitchFamily="34" charset="-122"/>
                <a:cs typeface="Calibri" pitchFamily="34" charset="-120"/>
              </a:rPr>
              <a:t>Stored queries guide re-search automatically.</a:t>
            </a:r>
            <a:endParaRPr lang="en-US" sz="1000" dirty="0"/>
          </a:p>
          <a:p>
            <a:pPr marL="0" indent="0">
              <a:lnSpc>
                <a:spcPct val="150000"/>
              </a:lnSpc>
              <a:buNone/>
            </a:pPr>
            <a:r>
              <a:rPr lang="en-US" sz="1000" dirty="0">
                <a:solidFill>
                  <a:srgbClr val="334155"/>
                </a:solidFill>
                <a:latin typeface="Calibri" pitchFamily="34" charset="0"/>
                <a:ea typeface="Calibri" pitchFamily="34" charset="-122"/>
                <a:cs typeface="Calibri" pitchFamily="34" charset="-120"/>
              </a:rPr>
              <a:t>AI refreshes context from updated docs.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A1220"/>
        </a:solidFill>
        <a:effectLst/>
      </p:bgPr>
    </p:bg>
    <p:spTree>
      <p:nvGrpSpPr>
        <p:cNvPr id="1" name=""/>
        <p:cNvGrpSpPr/>
        <p:nvPr/>
      </p:nvGrpSpPr>
      <p:grpSpPr>
        <a:xfrm>
          <a:off x="0" y="0"/>
          <a:ext cx="0" cy="0"/>
          <a:chOff x="0" y="0"/>
          <a:chExt cx="0" cy="0"/>
        </a:xfrm>
      </p:grpSpPr>
      <p:sp>
        <p:nvSpPr>
          <p:cNvPr id="2" name="Text 0"/>
          <p:cNvSpPr/>
          <p:nvPr/>
        </p:nvSpPr>
        <p:spPr>
          <a:xfrm>
            <a:off x="731520" y="274320"/>
            <a:ext cx="7680960" cy="50292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By the Numbers</a:t>
            </a:r>
            <a:endParaRPr lang="en-US" sz="3000" dirty="0"/>
          </a:p>
        </p:txBody>
      </p:sp>
      <p:sp>
        <p:nvSpPr>
          <p:cNvPr id="3" name="Shape 1"/>
          <p:cNvSpPr/>
          <p:nvPr/>
        </p:nvSpPr>
        <p:spPr>
          <a:xfrm>
            <a:off x="457200" y="1188720"/>
            <a:ext cx="3931920" cy="1463040"/>
          </a:xfrm>
          <a:prstGeom prst="rect">
            <a:avLst/>
          </a:prstGeom>
          <a:solidFill>
            <a:srgbClr val="162540"/>
          </a:solidFill>
          <a:ln w="12700">
            <a:solidFill>
              <a:srgbClr val="0891B2"/>
            </a:solidFill>
            <a:prstDash val="solid"/>
          </a:ln>
        </p:spPr>
        <p:txBody>
          <a:bodyPr/>
          <a:lstStyle/>
          <a:p>
            <a:endParaRPr lang="en-US"/>
          </a:p>
        </p:txBody>
      </p:sp>
      <p:sp>
        <p:nvSpPr>
          <p:cNvPr id="4" name="Text 2"/>
          <p:cNvSpPr/>
          <p:nvPr/>
        </p:nvSpPr>
        <p:spPr>
          <a:xfrm>
            <a:off x="731520" y="1325880"/>
            <a:ext cx="3383280" cy="640080"/>
          </a:xfrm>
          <a:prstGeom prst="rect">
            <a:avLst/>
          </a:prstGeom>
          <a:noFill/>
          <a:ln/>
        </p:spPr>
        <p:txBody>
          <a:bodyPr wrap="square" lIns="0" tIns="0" rIns="0" bIns="0" rtlCol="0" anchor="ctr"/>
          <a:lstStyle/>
          <a:p>
            <a:pPr marL="0" indent="0">
              <a:buNone/>
            </a:pPr>
            <a:r>
              <a:rPr lang="en-US" sz="4400" b="1" dirty="0">
                <a:solidFill>
                  <a:srgbClr val="22D3EE"/>
                </a:solidFill>
                <a:latin typeface="Trebuchet MS" pitchFamily="34" charset="0"/>
                <a:ea typeface="Trebuchet MS" pitchFamily="34" charset="-122"/>
                <a:cs typeface="Trebuchet MS" pitchFamily="34" charset="-120"/>
              </a:rPr>
              <a:t>90%</a:t>
            </a:r>
            <a:endParaRPr lang="en-US" sz="4400" dirty="0"/>
          </a:p>
        </p:txBody>
      </p:sp>
      <p:sp>
        <p:nvSpPr>
          <p:cNvPr id="5" name="Text 3"/>
          <p:cNvSpPr/>
          <p:nvPr/>
        </p:nvSpPr>
        <p:spPr>
          <a:xfrm>
            <a:off x="731520" y="2011680"/>
            <a:ext cx="3383280" cy="502920"/>
          </a:xfrm>
          <a:prstGeom prst="rect">
            <a:avLst/>
          </a:prstGeom>
          <a:noFill/>
          <a:ln/>
        </p:spPr>
        <p:txBody>
          <a:bodyPr wrap="square" lIns="0" tIns="0" rIns="0" bIns="0" rtlCol="0" anchor="ctr"/>
          <a:lstStyle/>
          <a:p>
            <a:pPr marL="0" indent="0">
              <a:lnSpc>
                <a:spcPct val="135000"/>
              </a:lnSpc>
              <a:buNone/>
            </a:pPr>
            <a:r>
              <a:rPr lang="en-US" sz="1200" dirty="0">
                <a:solidFill>
                  <a:srgbClr val="94A3B8"/>
                </a:solidFill>
                <a:latin typeface="Calibri" pitchFamily="34" charset="0"/>
                <a:ea typeface="Calibri" pitchFamily="34" charset="-122"/>
                <a:cs typeface="Calibri" pitchFamily="34" charset="-120"/>
              </a:rPr>
              <a:t>Token savings vs.</a:t>
            </a:r>
            <a:endParaRPr lang="en-US" sz="1200" dirty="0"/>
          </a:p>
          <a:p>
            <a:pPr marL="0" indent="0">
              <a:lnSpc>
                <a:spcPct val="135000"/>
              </a:lnSpc>
              <a:buNone/>
            </a:pPr>
            <a:r>
              <a:rPr lang="en-US" sz="1200" dirty="0">
                <a:solidFill>
                  <a:srgbClr val="94A3B8"/>
                </a:solidFill>
                <a:latin typeface="Calibri" pitchFamily="34" charset="0"/>
                <a:ea typeface="Calibri" pitchFamily="34" charset="-122"/>
                <a:cs typeface="Calibri" pitchFamily="34" charset="-120"/>
              </a:rPr>
              <a:t>full-file loading</a:t>
            </a:r>
            <a:endParaRPr lang="en-US" sz="1200" dirty="0"/>
          </a:p>
        </p:txBody>
      </p:sp>
      <p:sp>
        <p:nvSpPr>
          <p:cNvPr id="6" name="Shape 4"/>
          <p:cNvSpPr/>
          <p:nvPr/>
        </p:nvSpPr>
        <p:spPr>
          <a:xfrm>
            <a:off x="4572000" y="1188720"/>
            <a:ext cx="3931920" cy="1463040"/>
          </a:xfrm>
          <a:prstGeom prst="rect">
            <a:avLst/>
          </a:prstGeom>
          <a:solidFill>
            <a:srgbClr val="162540"/>
          </a:solidFill>
          <a:ln w="12700">
            <a:solidFill>
              <a:srgbClr val="0891B2"/>
            </a:solidFill>
            <a:prstDash val="solid"/>
          </a:ln>
        </p:spPr>
        <p:txBody>
          <a:bodyPr/>
          <a:lstStyle/>
          <a:p>
            <a:endParaRPr lang="en-US"/>
          </a:p>
        </p:txBody>
      </p:sp>
      <p:sp>
        <p:nvSpPr>
          <p:cNvPr id="7" name="Text 5"/>
          <p:cNvSpPr/>
          <p:nvPr/>
        </p:nvSpPr>
        <p:spPr>
          <a:xfrm>
            <a:off x="4846320" y="1325880"/>
            <a:ext cx="3383280" cy="640080"/>
          </a:xfrm>
          <a:prstGeom prst="rect">
            <a:avLst/>
          </a:prstGeom>
          <a:noFill/>
          <a:ln/>
        </p:spPr>
        <p:txBody>
          <a:bodyPr wrap="square" lIns="0" tIns="0" rIns="0" bIns="0" rtlCol="0" anchor="ctr"/>
          <a:lstStyle/>
          <a:p>
            <a:pPr marL="0" indent="0">
              <a:buNone/>
            </a:pPr>
            <a:r>
              <a:rPr lang="en-US" sz="4400" b="1" dirty="0">
                <a:solidFill>
                  <a:srgbClr val="22D3EE"/>
                </a:solidFill>
                <a:latin typeface="Trebuchet MS" pitchFamily="34" charset="0"/>
                <a:ea typeface="Trebuchet MS" pitchFamily="34" charset="-122"/>
                <a:cs typeface="Trebuchet MS" pitchFamily="34" charset="-120"/>
              </a:rPr>
              <a:t>~450</a:t>
            </a:r>
            <a:endParaRPr lang="en-US" sz="4400" dirty="0"/>
          </a:p>
        </p:txBody>
      </p:sp>
      <p:sp>
        <p:nvSpPr>
          <p:cNvPr id="8" name="Text 6"/>
          <p:cNvSpPr/>
          <p:nvPr/>
        </p:nvSpPr>
        <p:spPr>
          <a:xfrm>
            <a:off x="4846320" y="2011680"/>
            <a:ext cx="3383280" cy="502920"/>
          </a:xfrm>
          <a:prstGeom prst="rect">
            <a:avLst/>
          </a:prstGeom>
          <a:noFill/>
          <a:ln/>
        </p:spPr>
        <p:txBody>
          <a:bodyPr wrap="square" lIns="0" tIns="0" rIns="0" bIns="0" rtlCol="0" anchor="ctr"/>
          <a:lstStyle/>
          <a:p>
            <a:pPr marL="0" indent="0">
              <a:lnSpc>
                <a:spcPct val="135000"/>
              </a:lnSpc>
              <a:buNone/>
            </a:pPr>
            <a:r>
              <a:rPr lang="en-US" sz="1200" dirty="0">
                <a:solidFill>
                  <a:srgbClr val="94A3B8"/>
                </a:solidFill>
                <a:latin typeface="Calibri" pitchFamily="34" charset="0"/>
                <a:ea typeface="Calibri" pitchFamily="34" charset="-122"/>
                <a:cs typeface="Calibri" pitchFamily="34" charset="-120"/>
              </a:rPr>
              <a:t>Tokens per chunk</a:t>
            </a:r>
            <a:endParaRPr lang="en-US" sz="1200" dirty="0"/>
          </a:p>
          <a:p>
            <a:pPr marL="0" indent="0">
              <a:lnSpc>
                <a:spcPct val="135000"/>
              </a:lnSpc>
              <a:buNone/>
            </a:pPr>
            <a:r>
              <a:rPr lang="en-US" sz="1200" dirty="0">
                <a:solidFill>
                  <a:srgbClr val="94A3B8"/>
                </a:solidFill>
                <a:latin typeface="Calibri" pitchFamily="34" charset="0"/>
                <a:ea typeface="Calibri" pitchFamily="34" charset="-122"/>
                <a:cs typeface="Calibri" pitchFamily="34" charset="-120"/>
              </a:rPr>
              <a:t>(normalized for BM25)</a:t>
            </a:r>
            <a:endParaRPr lang="en-US" sz="1200" dirty="0"/>
          </a:p>
        </p:txBody>
      </p:sp>
      <p:sp>
        <p:nvSpPr>
          <p:cNvPr id="9" name="Shape 7"/>
          <p:cNvSpPr/>
          <p:nvPr/>
        </p:nvSpPr>
        <p:spPr>
          <a:xfrm>
            <a:off x="457200" y="2926080"/>
            <a:ext cx="3931920" cy="1463040"/>
          </a:xfrm>
          <a:prstGeom prst="rect">
            <a:avLst/>
          </a:prstGeom>
          <a:solidFill>
            <a:srgbClr val="162540"/>
          </a:solidFill>
          <a:ln w="12700">
            <a:solidFill>
              <a:srgbClr val="0891B2"/>
            </a:solidFill>
            <a:prstDash val="solid"/>
          </a:ln>
        </p:spPr>
        <p:txBody>
          <a:bodyPr/>
          <a:lstStyle/>
          <a:p>
            <a:endParaRPr lang="en-US"/>
          </a:p>
        </p:txBody>
      </p:sp>
      <p:sp>
        <p:nvSpPr>
          <p:cNvPr id="10" name="Text 8"/>
          <p:cNvSpPr/>
          <p:nvPr/>
        </p:nvSpPr>
        <p:spPr>
          <a:xfrm>
            <a:off x="731520" y="3063240"/>
            <a:ext cx="3383280" cy="640080"/>
          </a:xfrm>
          <a:prstGeom prst="rect">
            <a:avLst/>
          </a:prstGeom>
          <a:noFill/>
          <a:ln/>
        </p:spPr>
        <p:txBody>
          <a:bodyPr wrap="square" lIns="0" tIns="0" rIns="0" bIns="0" rtlCol="0" anchor="ctr"/>
          <a:lstStyle/>
          <a:p>
            <a:pPr marL="0" indent="0">
              <a:buNone/>
            </a:pPr>
            <a:r>
              <a:rPr lang="en-US" sz="4400" b="1" dirty="0">
                <a:solidFill>
                  <a:srgbClr val="22D3EE"/>
                </a:solidFill>
                <a:latin typeface="Trebuchet MS" pitchFamily="34" charset="0"/>
                <a:ea typeface="Trebuchet MS" pitchFamily="34" charset="-122"/>
                <a:cs typeface="Trebuchet MS" pitchFamily="34" charset="-120"/>
              </a:rPr>
              <a:t>3</a:t>
            </a:r>
            <a:endParaRPr lang="en-US" sz="4400" dirty="0"/>
          </a:p>
        </p:txBody>
      </p:sp>
      <p:sp>
        <p:nvSpPr>
          <p:cNvPr id="11" name="Text 9"/>
          <p:cNvSpPr/>
          <p:nvPr/>
        </p:nvSpPr>
        <p:spPr>
          <a:xfrm>
            <a:off x="731520" y="3749040"/>
            <a:ext cx="3383280" cy="502920"/>
          </a:xfrm>
          <a:prstGeom prst="rect">
            <a:avLst/>
          </a:prstGeom>
          <a:noFill/>
          <a:ln/>
        </p:spPr>
        <p:txBody>
          <a:bodyPr wrap="square" lIns="0" tIns="0" rIns="0" bIns="0" rtlCol="0" anchor="ctr"/>
          <a:lstStyle/>
          <a:p>
            <a:pPr marL="0" indent="0">
              <a:lnSpc>
                <a:spcPct val="135000"/>
              </a:lnSpc>
              <a:buNone/>
            </a:pPr>
            <a:r>
              <a:rPr lang="en-US" sz="1200" dirty="0">
                <a:solidFill>
                  <a:srgbClr val="94A3B8"/>
                </a:solidFill>
                <a:latin typeface="Calibri" pitchFamily="34" charset="0"/>
                <a:ea typeface="Calibri" pitchFamily="34" charset="-122"/>
                <a:cs typeface="Calibri" pitchFamily="34" charset="-120"/>
              </a:rPr>
              <a:t>Independent search indexes</a:t>
            </a:r>
            <a:endParaRPr lang="en-US" sz="1200" dirty="0"/>
          </a:p>
          <a:p>
            <a:pPr marL="0" indent="0">
              <a:lnSpc>
                <a:spcPct val="135000"/>
              </a:lnSpc>
              <a:buNone/>
            </a:pPr>
            <a:r>
              <a:rPr lang="en-US" sz="1200" dirty="0">
                <a:solidFill>
                  <a:srgbClr val="94A3B8"/>
                </a:solidFill>
                <a:latin typeface="Calibri" pitchFamily="34" charset="0"/>
                <a:ea typeface="Calibri" pitchFamily="34" charset="-122"/>
                <a:cs typeface="Calibri" pitchFamily="34" charset="-120"/>
              </a:rPr>
              <a:t>obj · spec · sys</a:t>
            </a:r>
            <a:endParaRPr lang="en-US" sz="1200" dirty="0"/>
          </a:p>
        </p:txBody>
      </p:sp>
      <p:sp>
        <p:nvSpPr>
          <p:cNvPr id="12" name="Shape 10"/>
          <p:cNvSpPr/>
          <p:nvPr/>
        </p:nvSpPr>
        <p:spPr>
          <a:xfrm>
            <a:off x="4572000" y="2926080"/>
            <a:ext cx="3931920" cy="1463040"/>
          </a:xfrm>
          <a:prstGeom prst="rect">
            <a:avLst/>
          </a:prstGeom>
          <a:solidFill>
            <a:srgbClr val="162540"/>
          </a:solidFill>
          <a:ln w="12700">
            <a:solidFill>
              <a:srgbClr val="0891B2"/>
            </a:solidFill>
            <a:prstDash val="solid"/>
          </a:ln>
        </p:spPr>
        <p:txBody>
          <a:bodyPr/>
          <a:lstStyle/>
          <a:p>
            <a:endParaRPr lang="en-US"/>
          </a:p>
        </p:txBody>
      </p:sp>
      <p:sp>
        <p:nvSpPr>
          <p:cNvPr id="13" name="Text 11"/>
          <p:cNvSpPr/>
          <p:nvPr/>
        </p:nvSpPr>
        <p:spPr>
          <a:xfrm>
            <a:off x="4846320" y="3063240"/>
            <a:ext cx="3383280" cy="640080"/>
          </a:xfrm>
          <a:prstGeom prst="rect">
            <a:avLst/>
          </a:prstGeom>
          <a:noFill/>
          <a:ln/>
        </p:spPr>
        <p:txBody>
          <a:bodyPr wrap="square" lIns="0" tIns="0" rIns="0" bIns="0" rtlCol="0" anchor="ctr"/>
          <a:lstStyle/>
          <a:p>
            <a:pPr marL="0" indent="0">
              <a:buNone/>
            </a:pPr>
            <a:r>
              <a:rPr lang="en-US" sz="4400" b="1" dirty="0">
                <a:solidFill>
                  <a:srgbClr val="22D3EE"/>
                </a:solidFill>
                <a:latin typeface="Trebuchet MS" pitchFamily="34" charset="0"/>
                <a:ea typeface="Trebuchet MS" pitchFamily="34" charset="-122"/>
                <a:cs typeface="Trebuchet MS" pitchFamily="34" charset="-120"/>
              </a:rPr>
              <a:t>0</a:t>
            </a:r>
            <a:endParaRPr lang="en-US" sz="4400" dirty="0"/>
          </a:p>
        </p:txBody>
      </p:sp>
      <p:sp>
        <p:nvSpPr>
          <p:cNvPr id="14" name="Text 12"/>
          <p:cNvSpPr/>
          <p:nvPr/>
        </p:nvSpPr>
        <p:spPr>
          <a:xfrm>
            <a:off x="4846320" y="3749040"/>
            <a:ext cx="3383280" cy="502920"/>
          </a:xfrm>
          <a:prstGeom prst="rect">
            <a:avLst/>
          </a:prstGeom>
          <a:noFill/>
          <a:ln/>
        </p:spPr>
        <p:txBody>
          <a:bodyPr wrap="square" lIns="0" tIns="0" rIns="0" bIns="0" rtlCol="0" anchor="ctr"/>
          <a:lstStyle/>
          <a:p>
            <a:pPr marL="0" indent="0">
              <a:lnSpc>
                <a:spcPct val="135000"/>
              </a:lnSpc>
              <a:buNone/>
            </a:pPr>
            <a:r>
              <a:rPr lang="en-US" sz="1200" dirty="0">
                <a:solidFill>
                  <a:srgbClr val="94A3B8"/>
                </a:solidFill>
                <a:latin typeface="Calibri" pitchFamily="34" charset="0"/>
                <a:ea typeface="Calibri" pitchFamily="34" charset="-122"/>
                <a:cs typeface="Calibri" pitchFamily="34" charset="-120"/>
              </a:rPr>
              <a:t>External infrastructure</a:t>
            </a:r>
            <a:endParaRPr lang="en-US" sz="1200" dirty="0"/>
          </a:p>
          <a:p>
            <a:pPr marL="0" indent="0">
              <a:lnSpc>
                <a:spcPct val="135000"/>
              </a:lnSpc>
              <a:buNone/>
            </a:pPr>
            <a:r>
              <a:rPr lang="en-US" sz="1200" dirty="0">
                <a:solidFill>
                  <a:srgbClr val="94A3B8"/>
                </a:solidFill>
                <a:latin typeface="Calibri" pitchFamily="34" charset="0"/>
                <a:ea typeface="Calibri" pitchFamily="34" charset="-122"/>
                <a:cs typeface="Calibri" pitchFamily="34" charset="-120"/>
              </a:rPr>
              <a:t>Pure Go binary</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a:effectLst/>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891B2"/>
          </a:solidFill>
          <a:ln/>
        </p:spPr>
        <p:txBody>
          <a:bodyPr/>
          <a:lstStyle/>
          <a:p>
            <a:endParaRPr lang="en-US"/>
          </a:p>
        </p:txBody>
      </p:sp>
      <p:sp>
        <p:nvSpPr>
          <p:cNvPr id="3" name="Text 1"/>
          <p:cNvSpPr/>
          <p:nvPr/>
        </p:nvSpPr>
        <p:spPr>
          <a:xfrm>
            <a:off x="731520" y="1280160"/>
            <a:ext cx="7680960" cy="822960"/>
          </a:xfrm>
          <a:prstGeom prst="rect">
            <a:avLst/>
          </a:prstGeom>
          <a:noFill/>
          <a:ln/>
        </p:spPr>
        <p:txBody>
          <a:bodyPr wrap="square" lIns="0" tIns="0" rIns="0" bIns="0" rtlCol="0" anchor="ctr"/>
          <a:lstStyle/>
          <a:p>
            <a:r>
              <a:rPr lang="en-US" sz="4800" b="1" dirty="0">
                <a:solidFill>
                  <a:srgbClr val="FFFFFF"/>
                </a:solidFill>
                <a:latin typeface="Trebuchet MS" pitchFamily="34" charset="0"/>
                <a:ea typeface="Trebuchet MS" pitchFamily="34" charset="-122"/>
                <a:cs typeface="Trebuchet MS" pitchFamily="34" charset="-120"/>
              </a:rPr>
              <a:t>codectx</a:t>
            </a:r>
            <a:r>
              <a:rPr lang="en-US" sz="800" b="1" i="1" dirty="0">
                <a:solidFill>
                  <a:srgbClr val="64748B"/>
                </a:solidFill>
                <a:latin typeface="Trebuchet MS" pitchFamily="34" charset="0"/>
                <a:ea typeface="Trebuchet MS" pitchFamily="34" charset="-122"/>
                <a:cs typeface="Trebuchet MS" pitchFamily="34" charset="-120"/>
              </a:rPr>
              <a:t>  (by Jon Tech)</a:t>
            </a:r>
            <a:endParaRPr lang="en-US" sz="4800" dirty="0"/>
          </a:p>
        </p:txBody>
      </p:sp>
      <p:sp>
        <p:nvSpPr>
          <p:cNvPr id="4" name="Text 2"/>
          <p:cNvSpPr/>
          <p:nvPr/>
        </p:nvSpPr>
        <p:spPr>
          <a:xfrm>
            <a:off x="731520" y="2148840"/>
            <a:ext cx="6400800" cy="731520"/>
          </a:xfrm>
          <a:prstGeom prst="rect">
            <a:avLst/>
          </a:prstGeom>
          <a:noFill/>
          <a:ln/>
        </p:spPr>
        <p:txBody>
          <a:bodyPr wrap="square" lIns="0" tIns="0" rIns="0" bIns="0" rtlCol="0" anchor="ctr"/>
          <a:lstStyle/>
          <a:p>
            <a:pPr marL="0" indent="0">
              <a:lnSpc>
                <a:spcPct val="140000"/>
              </a:lnSpc>
              <a:buNone/>
            </a:pPr>
            <a:r>
              <a:rPr lang="en-US" sz="1800" dirty="0">
                <a:solidFill>
                  <a:srgbClr val="22D3EE"/>
                </a:solidFill>
                <a:latin typeface="Calibri Light" pitchFamily="34" charset="0"/>
                <a:ea typeface="Calibri Light" pitchFamily="34" charset="-122"/>
                <a:cs typeface="Calibri Light" pitchFamily="34" charset="-120"/>
              </a:rPr>
              <a:t>Compile docs. Search with precision.</a:t>
            </a:r>
            <a:endParaRPr lang="en-US" sz="1800" dirty="0"/>
          </a:p>
          <a:p>
            <a:pPr marL="0" indent="0">
              <a:lnSpc>
                <a:spcPct val="140000"/>
              </a:lnSpc>
              <a:buNone/>
            </a:pPr>
            <a:r>
              <a:rPr lang="en-US" sz="1800" dirty="0">
                <a:solidFill>
                  <a:srgbClr val="22D3EE"/>
                </a:solidFill>
                <a:latin typeface="Calibri Light" pitchFamily="34" charset="0"/>
                <a:ea typeface="Calibri Light" pitchFamily="34" charset="-122"/>
                <a:cs typeface="Calibri Light" pitchFamily="34" charset="-120"/>
              </a:rPr>
              <a:t>Deliver the right context, every time.</a:t>
            </a:r>
            <a:endParaRPr lang="en-US" sz="1800" dirty="0"/>
          </a:p>
        </p:txBody>
      </p:sp>
      <p:sp>
        <p:nvSpPr>
          <p:cNvPr id="5" name="Shape 3"/>
          <p:cNvSpPr/>
          <p:nvPr/>
        </p:nvSpPr>
        <p:spPr>
          <a:xfrm>
            <a:off x="731520" y="3108960"/>
            <a:ext cx="2286000" cy="0"/>
          </a:xfrm>
          <a:prstGeom prst="line">
            <a:avLst/>
          </a:prstGeom>
          <a:noFill/>
          <a:ln w="25400">
            <a:solidFill>
              <a:srgbClr val="0891B2"/>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731520" y="3451860"/>
            <a:ext cx="182880" cy="182880"/>
          </a:xfrm>
          <a:prstGeom prst="rect">
            <a:avLst/>
          </a:prstGeom>
        </p:spPr>
      </p:pic>
      <p:sp>
        <p:nvSpPr>
          <p:cNvPr id="7" name="Text 4"/>
          <p:cNvSpPr/>
          <p:nvPr/>
        </p:nvSpPr>
        <p:spPr>
          <a:xfrm>
            <a:off x="1051560" y="3410712"/>
            <a:ext cx="5486400" cy="2743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Deterministic search, not probabilistic guessing</a:t>
            </a:r>
            <a:endParaRPr lang="en-US" sz="1400" dirty="0"/>
          </a:p>
        </p:txBody>
      </p:sp>
      <p:pic>
        <p:nvPicPr>
          <p:cNvPr id="8" name="Image 1" descr="preencoded.png"/>
          <p:cNvPicPr>
            <a:picLocks noChangeAspect="1"/>
          </p:cNvPicPr>
          <p:nvPr/>
        </p:nvPicPr>
        <p:blipFill>
          <a:blip r:embed="rId3"/>
          <a:stretch>
            <a:fillRect/>
          </a:stretch>
        </p:blipFill>
        <p:spPr>
          <a:xfrm>
            <a:off x="731520" y="3822192"/>
            <a:ext cx="182880" cy="182880"/>
          </a:xfrm>
          <a:prstGeom prst="rect">
            <a:avLst/>
          </a:prstGeom>
        </p:spPr>
      </p:pic>
      <p:sp>
        <p:nvSpPr>
          <p:cNvPr id="9" name="Text 5"/>
          <p:cNvSpPr/>
          <p:nvPr/>
        </p:nvSpPr>
        <p:spPr>
          <a:xfrm>
            <a:off x="1051560" y="3776472"/>
            <a:ext cx="5486400" cy="2743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Token-aware compilation with budget management</a:t>
            </a:r>
            <a:endParaRPr lang="en-US" sz="1400" dirty="0"/>
          </a:p>
        </p:txBody>
      </p:sp>
      <p:pic>
        <p:nvPicPr>
          <p:cNvPr id="10" name="Image 2" descr="preencoded.png"/>
          <p:cNvPicPr>
            <a:picLocks noChangeAspect="1"/>
          </p:cNvPicPr>
          <p:nvPr/>
        </p:nvPicPr>
        <p:blipFill>
          <a:blip r:embed="rId3"/>
          <a:stretch>
            <a:fillRect/>
          </a:stretch>
        </p:blipFill>
        <p:spPr>
          <a:xfrm>
            <a:off x="731520" y="4187952"/>
            <a:ext cx="182880" cy="182880"/>
          </a:xfrm>
          <a:prstGeom prst="rect">
            <a:avLst/>
          </a:prstGeom>
        </p:spPr>
      </p:pic>
      <p:sp>
        <p:nvSpPr>
          <p:cNvPr id="11" name="Text 6"/>
          <p:cNvSpPr/>
          <p:nvPr/>
        </p:nvSpPr>
        <p:spPr>
          <a:xfrm>
            <a:off x="1051560" y="4142232"/>
            <a:ext cx="5486400" cy="27432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Shareable package ecosystem on GitHub</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1329</TotalTime>
  <Words>929</Words>
  <Application>Microsoft Macintosh PowerPoint</Application>
  <PresentationFormat>On-screen Show (16:9)</PresentationFormat>
  <Paragraphs>181</Paragraphs>
  <Slides>11</Slides>
  <Notes>11</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codectx — Documentation Compiler for AI-Driven Development</dc:title>
  <dc:subject>PptxGenJS Presentation</dc:subject>
  <dc:creator>codectx</dc:creator>
  <cp:lastModifiedBy>Tech, Jon</cp:lastModifiedBy>
  <cp:revision>15</cp:revision>
  <dcterms:created xsi:type="dcterms:W3CDTF">2026-03-10T17:50:46Z</dcterms:created>
  <dcterms:modified xsi:type="dcterms:W3CDTF">2026-03-12T03:04:02Z</dcterms:modified>
</cp:coreProperties>
</file>